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Venta Neta ($)</c:v>
                </c:pt>
              </c:strCache>
            </c:strRef>
          </c:tx>
          <c:spPr>
            <a:solidFill>
              <a:srgbClr val="0F9B8E"/>
            </a:solidFill>
            <a:ln w="31750" cap="flat">
              <a:solidFill>
                <a:srgbClr val="0F9B8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9B8E"/>
              </a:solidFill>
              <a:ln w="9525" cap="flat">
                <a:solidFill>
                  <a:srgbClr val="0F9B8E"/>
                </a:solidFill>
                <a:prstDash val="solid"/>
                <a:round/>
              </a:ln>
              <a:effectLst/>
            </c:spPr>
          </c:marker>
          <c:cat>
            <c:multiLvlStrRef>
              <c:f>Sheet1!$A$2:$A$9</c:f>
              <c:multiLvlStrCache>
                <c:ptCount val="8"/>
                <c:lvl>
                  <c:pt idx="0">
                    <c:v>Ene</c:v>
                  </c:pt>
                  <c:pt idx="1">
                    <c:v>Feb</c:v>
                  </c:pt>
                  <c:pt idx="2">
                    <c:v>Mar</c:v>
                  </c:pt>
                  <c:pt idx="3">
                    <c:v>Abr</c:v>
                  </c:pt>
                  <c:pt idx="4">
                    <c:v>May</c:v>
                  </c:pt>
                  <c:pt idx="5">
                    <c:v>Jun</c:v>
                  </c:pt>
                  <c:pt idx="6">
                    <c:v>Jul</c:v>
                  </c:pt>
                  <c:pt idx="7">
                    <c:v>Ago</c:v>
                  </c:pt>
                </c:lvl>
              </c:multiLvlStrCache>
            </c:multiLvlStrRef>
          </c:cat>
          <c:val>
            <c:numRef>
              <c:f>Sheet1!$B$2:$B$9</c:f>
              <c:numCache>
                <c:formatCode>General</c:formatCode>
                <c:ptCount val="8"/>
                <c:pt idx="0">
                  <c:v>484.18</c:v>
                </c:pt>
                <c:pt idx="1">
                  <c:v>1459.54</c:v>
                </c:pt>
                <c:pt idx="2">
                  <c:v>282.43</c:v>
                </c:pt>
                <c:pt idx="3">
                  <c:v>1275.53</c:v>
                </c:pt>
                <c:pt idx="4">
                  <c:v>914.82</c:v>
                </c:pt>
                <c:pt idx="5">
                  <c:v>900.66</c:v>
                </c:pt>
                <c:pt idx="6">
                  <c:v>3377.07</c:v>
                </c:pt>
                <c:pt idx="7">
                  <c:v>126.44</c:v>
                </c:pt>
              </c:numCache>
            </c:numRef>
          </c:val>
          <c:smooth val="0"/>
        </c:ser>
        <c:ser>
          <c:idx val="1"/>
          <c:order val="1"/>
          <c:tx>
            <c:strRef>
              <c:f>Sheet1!$C$1</c:f>
              <c:strCache>
                <c:ptCount val="1"/>
                <c:pt idx="0">
                  <c:v>Kilos Totales</c:v>
                </c:pt>
              </c:strCache>
            </c:strRef>
          </c:tx>
          <c:spPr>
            <a:solidFill>
              <a:srgbClr val="E8A33D"/>
            </a:solidFill>
            <a:ln w="3175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8A33D"/>
              </a:solidFill>
              <a:ln w="9525" cap="flat">
                <a:solidFill>
                  <a:srgbClr val="E8A33D"/>
                </a:solidFill>
                <a:prstDash val="solid"/>
                <a:round/>
              </a:ln>
              <a:effectLst/>
            </c:spPr>
          </c:marker>
          <c:cat>
            <c:multiLvlStrRef>
              <c:f>Sheet1!$A$2:$A$9</c:f>
              <c:multiLvlStrCache>
                <c:ptCount val="8"/>
                <c:lvl>
                  <c:pt idx="0">
                    <c:v>Ene</c:v>
                  </c:pt>
                  <c:pt idx="1">
                    <c:v>Feb</c:v>
                  </c:pt>
                  <c:pt idx="2">
                    <c:v>Mar</c:v>
                  </c:pt>
                  <c:pt idx="3">
                    <c:v>Abr</c:v>
                  </c:pt>
                  <c:pt idx="4">
                    <c:v>May</c:v>
                  </c:pt>
                  <c:pt idx="5">
                    <c:v>Jun</c:v>
                  </c:pt>
                  <c:pt idx="6">
                    <c:v>Jul</c:v>
                  </c:pt>
                  <c:pt idx="7">
                    <c:v>Ago</c:v>
                  </c:pt>
                </c:lvl>
              </c:multiLvlStrCache>
            </c:multiLvlStrRef>
          </c:cat>
          <c:val>
            <c:numRef>
              <c:f>Sheet1!$C$2:$C$9</c:f>
              <c:numCache>
                <c:formatCode>General</c:formatCode>
                <c:ptCount val="8"/>
                <c:pt idx="0">
                  <c:v>1382.74</c:v>
                </c:pt>
                <c:pt idx="1">
                  <c:v>1715.71</c:v>
                </c:pt>
                <c:pt idx="2">
                  <c:v>1548.49</c:v>
                </c:pt>
                <c:pt idx="3">
                  <c:v>3895.99</c:v>
                </c:pt>
                <c:pt idx="4">
                  <c:v>1948.8</c:v>
                </c:pt>
                <c:pt idx="5">
                  <c:v>1265.35</c:v>
                </c:pt>
                <c:pt idx="6">
                  <c:v>3490.26</c:v>
                </c:pt>
                <c:pt idx="7">
                  <c:v>323.83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1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51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Kilos</c:v>
                </c:pt>
              </c:strCache>
            </c:strRef>
          </c:tx>
          <c:spPr>
            <a:solidFill>
              <a:srgbClr val="0F9B8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Ob-Chifles</c:v>
                  </c:pt>
                  <c:pt idx="1">
                    <c:v>Sabrofrito</c:v>
                  </c:pt>
                  <c:pt idx="2">
                    <c:v>Ln.Maestro</c:v>
                  </c:pt>
                  <c:pt idx="3">
                    <c:v>Ciclon</c:v>
                  </c:pt>
                  <c:pt idx="4">
                    <c:v>Oleina-B30</c:v>
                  </c:pt>
                  <c:pt idx="5">
                    <c:v>Olimpia</c:v>
                  </c:pt>
                  <c:pt idx="6">
                    <c:v>Sabrosalsa</c:v>
                  </c:pt>
                  <c:pt idx="7">
                    <c:v>Girasol</c:v>
                  </c:pt>
                </c:lvl>
              </c:multiLvlStrCache>
            </c:multiLvlStrRef>
          </c:cat>
          <c:val>
            <c:numRef>
              <c:f>Sheet1!$B$2:$B$9</c:f>
              <c:numCache>
                <c:formatCode>General</c:formatCode>
                <c:ptCount val="8"/>
                <c:pt idx="0">
                  <c:v>3057.6</c:v>
                </c:pt>
                <c:pt idx="1">
                  <c:v>2134.08</c:v>
                </c:pt>
                <c:pt idx="2">
                  <c:v>1810</c:v>
                </c:pt>
                <c:pt idx="3">
                  <c:v>1056.08</c:v>
                </c:pt>
                <c:pt idx="4">
                  <c:v>873.6</c:v>
                </c:pt>
                <c:pt idx="5">
                  <c:v>842.82</c:v>
                </c:pt>
                <c:pt idx="6">
                  <c:v>786.04</c:v>
                </c:pt>
                <c:pt idx="7">
                  <c:v>732.09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4515C"/>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2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4515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2545"/>
                </a:solidFill>
                <a:latin typeface="Arial"/>
              </a:defRPr>
            </a:pPr>
            <a:r>
              <a:rPr sz="1200" b="0" i="0" u="none" strike="noStrike">
                <a:solidFill>
                  <a:srgbClr val="0B2545"/>
                </a:solidFill>
                <a:latin typeface="Arial"/>
              </a:rPr>
              <a:t>Comparación de métricas por modelo</a:t>
            </a:r>
          </a:p>
        </c:rich>
      </c:tx>
      <c:layout/>
      <c:overlay val="0"/>
    </c:title>
    <c:autoTitleDeleted val="0"/>
    <c:plotArea>
      <c:layout/>
      <c:barChart>
        <c:barDir val="col"/>
        <c:grouping val="clustered"/>
        <c:varyColors val="0"/>
        <c:ser>
          <c:idx val="0"/>
          <c:order val="0"/>
          <c:tx>
            <c:strRef>
              <c:f>Sheet1!$B$1</c:f>
              <c:strCache>
                <c:ptCount val="1"/>
                <c:pt idx="0">
                  <c:v>MAE (kg)</c:v>
                </c:pt>
              </c:strCache>
            </c:strRef>
          </c:tx>
          <c:spPr>
            <a:solidFill>
              <a:srgbClr val="0F9B8E"/>
            </a:solidFill>
            <a:effectLst/>
          </c:spPr>
          <c:invertIfNegative val="0"/>
          <c:dLbls>
            <c:numFmt formatCode="#,##0" sourceLinked="0"/>
            <c:txPr>
              <a:bodyPr/>
              <a:lstStyle/>
              <a:p>
                <a:pPr>
                  <a:defRPr b="0" i="0" strike="noStrike" sz="800" u="none">
                    <a:solidFill>
                      <a:srgbClr val="44515C"/>
                    </a:solidFill>
                    <a:latin typeface="Arial"/>
                  </a:defRPr>
                </a:pPr>
              </a:p>
            </c:txPr>
            <c:showLegendKey val="0"/>
            <c:showVal val="1"/>
            <c:showCatName val="0"/>
            <c:showSerName val="0"/>
            <c:showPercent val="0"/>
            <c:showBubbleSize val="0"/>
            <c:showLeaderLines val="0"/>
          </c:dLbls>
          <c:cat>
            <c:multiLvlStrRef>
              <c:f>Sheet1!$A$2:$A$3</c:f>
              <c:multiLvlStrCache>
                <c:ptCount val="2"/>
                <c:lvl>
                  <c:pt idx="0">
                    <c:v>Regresión Lineal</c:v>
                  </c:pt>
                  <c:pt idx="1">
                    <c:v>Random Forest</c:v>
                  </c:pt>
                </c:lvl>
              </c:multiLvlStrCache>
            </c:multiLvlStrRef>
          </c:cat>
          <c:val>
            <c:numRef>
              <c:f>Sheet1!$B$2:$B$3</c:f>
              <c:numCache>
                <c:formatCode>General</c:formatCode>
                <c:ptCount val="2"/>
                <c:pt idx="0">
                  <c:v>479.12</c:v>
                </c:pt>
                <c:pt idx="1">
                  <c:v>744.41</c:v>
                </c:pt>
              </c:numCache>
            </c:numRef>
          </c:val>
        </c:ser>
        <c:ser>
          <c:idx val="1"/>
          <c:order val="1"/>
          <c:tx>
            <c:strRef>
              <c:f>Sheet1!$C$1</c:f>
              <c:strCache>
                <c:ptCount val="1"/>
                <c:pt idx="0">
                  <c:v>RMSE (kg)</c:v>
                </c:pt>
              </c:strCache>
            </c:strRef>
          </c:tx>
          <c:spPr>
            <a:solidFill>
              <a:srgbClr val="E8A33D"/>
            </a:solidFill>
            <a:effectLst/>
          </c:spPr>
          <c:invertIfNegative val="0"/>
          <c:dLbls>
            <c:numFmt formatCode="#,##0" sourceLinked="0"/>
            <c:txPr>
              <a:bodyPr/>
              <a:lstStyle/>
              <a:p>
                <a:pPr>
                  <a:defRPr b="0" i="0" strike="noStrike" sz="800" u="none">
                    <a:solidFill>
                      <a:srgbClr val="44515C"/>
                    </a:solidFill>
                    <a:latin typeface="Arial"/>
                  </a:defRPr>
                </a:pPr>
              </a:p>
            </c:txPr>
            <c:showLegendKey val="0"/>
            <c:showVal val="1"/>
            <c:showCatName val="0"/>
            <c:showSerName val="0"/>
            <c:showPercent val="0"/>
            <c:showBubbleSize val="0"/>
            <c:showLeaderLines val="0"/>
          </c:dLbls>
          <c:cat>
            <c:multiLvlStrRef>
              <c:f>Sheet1!$A$2:$A$3</c:f>
              <c:multiLvlStrCache>
                <c:ptCount val="2"/>
                <c:lvl>
                  <c:pt idx="0">
                    <c:v>Regresión Lineal</c:v>
                  </c:pt>
                  <c:pt idx="1">
                    <c:v>Random Forest</c:v>
                  </c:pt>
                </c:lvl>
              </c:multiLvlStrCache>
            </c:multiLvlStrRef>
          </c:cat>
          <c:val>
            <c:numRef>
              <c:f>Sheet1!$C$2:$C$3</c:f>
              <c:numCache>
                <c:formatCode>General</c:formatCode>
                <c:ptCount val="2"/>
                <c:pt idx="0">
                  <c:v>893.55</c:v>
                </c:pt>
                <c:pt idx="1">
                  <c:v>1083.67</c:v>
                </c:pt>
              </c:numCache>
            </c:numRef>
          </c:val>
        </c:ser>
        <c:dLbls>
          <c:numFmt formatCode="#,##0" sourceLinked="0"/>
          <c:txPr>
            <a:bodyPr/>
            <a:lstStyle/>
            <a:p>
              <a:pPr>
                <a:defRPr b="0" i="0" strike="noStrike" sz="800" u="none">
                  <a:solidFill>
                    <a:srgbClr val="4451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1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515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sp>
      <p:sp>
        <p:nvSpPr>
          <p:cNvPr id="3" name="Shape 1"/>
          <p:cNvSpPr/>
          <p:nvPr/>
        </p:nvSpPr>
        <p:spPr>
          <a:xfrm>
            <a:off x="8961120" y="-2011680"/>
            <a:ext cx="5486400" cy="5486400"/>
          </a:xfrm>
          <a:prstGeom prst="ellipse">
            <a:avLst/>
          </a:prstGeom>
          <a:solidFill>
            <a:srgbClr val="13315C"/>
          </a:solidFill>
          <a:ln/>
        </p:spPr>
      </p:sp>
      <p:sp>
        <p:nvSpPr>
          <p:cNvPr id="4" name="Shape 2"/>
          <p:cNvSpPr/>
          <p:nvPr/>
        </p:nvSpPr>
        <p:spPr>
          <a:xfrm>
            <a:off x="10241280" y="4206240"/>
            <a:ext cx="3657600" cy="3657600"/>
          </a:xfrm>
          <a:prstGeom prst="ellipse">
            <a:avLst/>
          </a:prstGeom>
          <a:solidFill>
            <a:srgbClr val="0F9B8E"/>
          </a:solidFill>
          <a:ln/>
        </p:spPr>
      </p:sp>
      <p:sp>
        <p:nvSpPr>
          <p:cNvPr id="5" name="Text 3"/>
          <p:cNvSpPr/>
          <p:nvPr/>
        </p:nvSpPr>
        <p:spPr>
          <a:xfrm>
            <a:off x="822960" y="1965960"/>
            <a:ext cx="7315200" cy="457200"/>
          </a:xfrm>
          <a:prstGeom prst="rect">
            <a:avLst/>
          </a:prstGeom>
          <a:noFill/>
          <a:ln/>
        </p:spPr>
        <p:txBody>
          <a:bodyPr wrap="square" rtlCol="0" anchor="ctr"/>
          <a:lstStyle/>
          <a:p>
            <a:pPr indent="0" marL="0">
              <a:buNone/>
            </a:pPr>
            <a:r>
              <a:rPr lang="en-US" sz="1500" b="1" spc="300" kern="0" dirty="0">
                <a:solidFill>
                  <a:srgbClr val="5FCFC0"/>
                </a:solidFill>
                <a:latin typeface="Calibri" pitchFamily="34" charset="0"/>
                <a:ea typeface="Calibri" pitchFamily="34" charset="-122"/>
                <a:cs typeface="Calibri" pitchFamily="34" charset="-120"/>
              </a:rPr>
              <a:t>PRUEBA TÉCNICA</a:t>
            </a:r>
            <a:endParaRPr lang="en-US" sz="1500" dirty="0"/>
          </a:p>
        </p:txBody>
      </p:sp>
      <p:sp>
        <p:nvSpPr>
          <p:cNvPr id="6" name="Text 4"/>
          <p:cNvSpPr/>
          <p:nvPr/>
        </p:nvSpPr>
        <p:spPr>
          <a:xfrm>
            <a:off x="777240" y="2331720"/>
            <a:ext cx="9601200" cy="1188720"/>
          </a:xfrm>
          <a:prstGeom prst="rect">
            <a:avLst/>
          </a:prstGeom>
          <a:noFill/>
          <a:ln/>
        </p:spPr>
        <p:txBody>
          <a:bodyPr wrap="square" rtlCol="0" anchor="ctr"/>
          <a:lstStyle/>
          <a:p>
            <a:pPr indent="0" marL="0">
              <a:buNone/>
            </a:pPr>
            <a:r>
              <a:rPr lang="en-US" sz="4000" b="1" dirty="0">
                <a:solidFill>
                  <a:srgbClr val="F4F6F8"/>
                </a:solidFill>
                <a:latin typeface="Calibri" pitchFamily="34" charset="0"/>
                <a:ea typeface="Calibri" pitchFamily="34" charset="-122"/>
                <a:cs typeface="Calibri" pitchFamily="34" charset="-120"/>
              </a:rPr>
              <a:t>Analista BI &amp; Machine Learning</a:t>
            </a:r>
            <a:endParaRPr lang="en-US" sz="4000" dirty="0"/>
          </a:p>
        </p:txBody>
      </p:sp>
      <p:sp>
        <p:nvSpPr>
          <p:cNvPr id="7" name="Text 5"/>
          <p:cNvSpPr/>
          <p:nvPr/>
        </p:nvSpPr>
        <p:spPr>
          <a:xfrm>
            <a:off x="822960" y="3429000"/>
            <a:ext cx="8229600" cy="457200"/>
          </a:xfrm>
          <a:prstGeom prst="rect">
            <a:avLst/>
          </a:prstGeom>
          <a:noFill/>
          <a:ln/>
        </p:spPr>
        <p:txBody>
          <a:bodyPr wrap="square" rtlCol="0" anchor="ctr"/>
          <a:lstStyle/>
          <a:p>
            <a:pPr indent="0" marL="0">
              <a:buNone/>
            </a:pPr>
            <a:r>
              <a:rPr lang="en-US" sz="1700" dirty="0">
                <a:solidFill>
                  <a:srgbClr val="5FCFC0"/>
                </a:solidFill>
                <a:latin typeface="Calibri" pitchFamily="34" charset="0"/>
                <a:ea typeface="Calibri" pitchFamily="34" charset="-122"/>
                <a:cs typeface="Calibri" pitchFamily="34" charset="-120"/>
              </a:rPr>
              <a:t>ETL · Dashboard de BI · Modelo Predictivo · Agente de IA</a:t>
            </a:r>
            <a:endParaRPr lang="en-US" sz="1700" dirty="0"/>
          </a:p>
        </p:txBody>
      </p:sp>
      <p:sp>
        <p:nvSpPr>
          <p:cNvPr id="8" name="Shape 6"/>
          <p:cNvSpPr/>
          <p:nvPr/>
        </p:nvSpPr>
        <p:spPr>
          <a:xfrm>
            <a:off x="822960" y="5394960"/>
            <a:ext cx="2194560" cy="0"/>
          </a:xfrm>
          <a:prstGeom prst="line">
            <a:avLst/>
          </a:prstGeom>
          <a:noFill/>
          <a:ln w="25400">
            <a:solidFill>
              <a:srgbClr val="0F9B8E"/>
            </a:solidFill>
            <a:prstDash val="solid"/>
          </a:ln>
        </p:spPr>
      </p:sp>
      <p:sp>
        <p:nvSpPr>
          <p:cNvPr id="9" name="Text 7"/>
          <p:cNvSpPr/>
          <p:nvPr/>
        </p:nvSpPr>
        <p:spPr>
          <a:xfrm>
            <a:off x="822960" y="5532120"/>
            <a:ext cx="5486400" cy="365760"/>
          </a:xfrm>
          <a:prstGeom prst="rect">
            <a:avLst/>
          </a:prstGeom>
          <a:noFill/>
          <a:ln/>
        </p:spPr>
        <p:txBody>
          <a:bodyPr wrap="square" rtlCol="0" anchor="ctr"/>
          <a:lstStyle/>
          <a:p>
            <a:pPr indent="0" marL="0">
              <a:buNone/>
            </a:pPr>
            <a:r>
              <a:rPr lang="en-US" sz="1300" b="1" dirty="0">
                <a:solidFill>
                  <a:srgbClr val="F4F6F8"/>
                </a:solidFill>
                <a:latin typeface="Calibri" pitchFamily="34" charset="0"/>
                <a:ea typeface="Calibri" pitchFamily="34" charset="-122"/>
                <a:cs typeface="Calibri" pitchFamily="34" charset="-120"/>
              </a:rPr>
              <a:t>Carlos Rolo — Analista BI &amp; ML</a:t>
            </a:r>
            <a:endParaRPr lang="en-US" sz="1300" dirty="0"/>
          </a:p>
        </p:txBody>
      </p:sp>
      <p:sp>
        <p:nvSpPr>
          <p:cNvPr id="10" name="Text 8"/>
          <p:cNvSpPr/>
          <p:nvPr/>
        </p:nvSpPr>
        <p:spPr>
          <a:xfrm>
            <a:off x="822960" y="5852160"/>
            <a:ext cx="5486400" cy="320040"/>
          </a:xfrm>
          <a:prstGeom prst="rect">
            <a:avLst/>
          </a:prstGeom>
          <a:noFill/>
          <a:ln/>
        </p:spPr>
        <p:txBody>
          <a:bodyPr wrap="square" rtlCol="0" anchor="ctr"/>
          <a:lstStyle/>
          <a:p>
            <a:pPr indent="0" marL="0">
              <a:buNone/>
            </a:pPr>
            <a:r>
              <a:rPr lang="en-US" sz="1100" dirty="0">
                <a:solidFill>
                  <a:srgbClr val="9FB3C8"/>
                </a:solidFill>
                <a:latin typeface="Calibri" pitchFamily="34" charset="0"/>
                <a:ea typeface="Calibri" pitchFamily="34" charset="-122"/>
                <a:cs typeface="Calibri" pitchFamily="34" charset="-120"/>
              </a:rPr>
              <a:t>Prueba técnica · La Fabril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640080"/>
          </a:xfrm>
          <a:prstGeom prst="rect">
            <a:avLst/>
          </a:prstGeom>
          <a:noFill/>
          <a:ln/>
        </p:spPr>
        <p:txBody>
          <a:bodyPr wrap="square"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Agenda</a:t>
            </a:r>
            <a:endParaRPr lang="en-US" sz="3000" dirty="0"/>
          </a:p>
        </p:txBody>
      </p:sp>
      <p:sp>
        <p:nvSpPr>
          <p:cNvPr id="3" name="Text 1"/>
          <p:cNvSpPr/>
          <p:nvPr/>
        </p:nvSpPr>
        <p:spPr>
          <a:xfrm>
            <a:off x="640080" y="1051560"/>
            <a:ext cx="7315200" cy="365760"/>
          </a:xfrm>
          <a:prstGeom prst="rect">
            <a:avLst/>
          </a:prstGeom>
          <a:noFill/>
          <a:ln/>
        </p:spPr>
        <p:txBody>
          <a:bodyPr wrap="square" rtlCol="0" anchor="ctr"/>
          <a:lstStyle/>
          <a:p>
            <a:pPr indent="0" marL="0">
              <a:buNone/>
            </a:pPr>
            <a:r>
              <a:rPr lang="en-US" sz="1300" dirty="0">
                <a:solidFill>
                  <a:srgbClr val="44515C"/>
                </a:solidFill>
                <a:latin typeface="Calibri" pitchFamily="34" charset="0"/>
                <a:ea typeface="Calibri" pitchFamily="34" charset="-122"/>
                <a:cs typeface="Calibri" pitchFamily="34" charset="-120"/>
              </a:rPr>
              <a:t>Recorrido por las 4 partes del caso de estudio</a:t>
            </a:r>
            <a:endParaRPr lang="en-US" sz="1300" dirty="0"/>
          </a:p>
        </p:txBody>
      </p:sp>
      <p:sp>
        <p:nvSpPr>
          <p:cNvPr id="4" name="Shape 2"/>
          <p:cNvSpPr/>
          <p:nvPr/>
        </p:nvSpPr>
        <p:spPr>
          <a:xfrm>
            <a:off x="640080" y="1737360"/>
            <a:ext cx="10881360" cy="1051560"/>
          </a:xfrm>
          <a:prstGeom prst="rect">
            <a:avLst/>
          </a:prstGeom>
          <a:solidFill>
            <a:srgbClr val="F4F7F8"/>
          </a:solidFill>
          <a:ln/>
          <a:effectLst>
            <a:outerShdw sx="100000" sy="100000" kx="0" ky="0" algn="bl" rotWithShape="0" blurRad="76200" dist="25400" dir="5400000">
              <a:srgbClr val="1F2933">
                <a:alpha val="12000"/>
              </a:srgbClr>
            </a:outerShdw>
          </a:effectLst>
        </p:spPr>
      </p:sp>
      <p:sp>
        <p:nvSpPr>
          <p:cNvPr id="5" name="Text 3"/>
          <p:cNvSpPr/>
          <p:nvPr/>
        </p:nvSpPr>
        <p:spPr>
          <a:xfrm>
            <a:off x="868680" y="1874520"/>
            <a:ext cx="914400" cy="777240"/>
          </a:xfrm>
          <a:prstGeom prst="rect">
            <a:avLst/>
          </a:prstGeom>
          <a:noFill/>
          <a:ln/>
        </p:spPr>
        <p:txBody>
          <a:bodyPr wrap="square" rtlCol="0" anchor="ctr"/>
          <a:lstStyle/>
          <a:p>
            <a:pPr indent="0" marL="0">
              <a:buNone/>
            </a:pPr>
            <a:r>
              <a:rPr lang="en-US" sz="3000" b="1" dirty="0">
                <a:solidFill>
                  <a:srgbClr val="0F9B8E"/>
                </a:solidFill>
                <a:latin typeface="Calibri" pitchFamily="34" charset="0"/>
                <a:ea typeface="Calibri" pitchFamily="34" charset="-122"/>
                <a:cs typeface="Calibri" pitchFamily="34" charset="-120"/>
              </a:rPr>
              <a:t>01</a:t>
            </a:r>
            <a:endParaRPr lang="en-US" sz="3000" dirty="0"/>
          </a:p>
        </p:txBody>
      </p:sp>
      <p:sp>
        <p:nvSpPr>
          <p:cNvPr id="6" name="Text 4"/>
          <p:cNvSpPr/>
          <p:nvPr/>
        </p:nvSpPr>
        <p:spPr>
          <a:xfrm>
            <a:off x="1920240" y="1874520"/>
            <a:ext cx="5943600" cy="457200"/>
          </a:xfrm>
          <a:prstGeom prst="rect">
            <a:avLst/>
          </a:prstGeom>
          <a:noFill/>
          <a:ln/>
        </p:spPr>
        <p:txBody>
          <a:bodyPr wrap="square" rtlCol="0" anchor="b"/>
          <a:lstStyle/>
          <a:p>
            <a:pPr indent="0" marL="0">
              <a:buNone/>
            </a:pPr>
            <a:r>
              <a:rPr lang="en-US" sz="1700" b="1" dirty="0">
                <a:solidFill>
                  <a:srgbClr val="0B2545"/>
                </a:solidFill>
                <a:latin typeface="Calibri" pitchFamily="34" charset="0"/>
                <a:ea typeface="Calibri" pitchFamily="34" charset="-122"/>
                <a:cs typeface="Calibri" pitchFamily="34" charset="-120"/>
              </a:rPr>
              <a:t>Ingeniería de Datos (ETL)</a:t>
            </a:r>
            <a:endParaRPr lang="en-US" sz="1700" dirty="0"/>
          </a:p>
        </p:txBody>
      </p:sp>
      <p:sp>
        <p:nvSpPr>
          <p:cNvPr id="7" name="Text 5"/>
          <p:cNvSpPr/>
          <p:nvPr/>
        </p:nvSpPr>
        <p:spPr>
          <a:xfrm>
            <a:off x="1920240" y="2286000"/>
            <a:ext cx="8686800" cy="411480"/>
          </a:xfrm>
          <a:prstGeom prst="rect">
            <a:avLst/>
          </a:prstGeom>
          <a:noFill/>
          <a:ln/>
        </p:spPr>
        <p:txBody>
          <a:bodyPr wrap="square" rtlCol="0" anchor="t"/>
          <a:lstStyle/>
          <a:p>
            <a:pPr indent="0" marL="0">
              <a:buNone/>
            </a:pPr>
            <a:r>
              <a:rPr lang="en-US" sz="1200" dirty="0">
                <a:solidFill>
                  <a:srgbClr val="44515C"/>
                </a:solidFill>
                <a:latin typeface="Calibri" pitchFamily="34" charset="0"/>
                <a:ea typeface="Calibri" pitchFamily="34" charset="-122"/>
                <a:cs typeface="Calibri" pitchFamily="34" charset="-120"/>
              </a:rPr>
              <a:t>Limpieza, integración y hallazgos de calidad</a:t>
            </a:r>
            <a:endParaRPr lang="en-US" sz="1200" dirty="0"/>
          </a:p>
        </p:txBody>
      </p:sp>
      <p:sp>
        <p:nvSpPr>
          <p:cNvPr id="8" name="Shape 6"/>
          <p:cNvSpPr/>
          <p:nvPr/>
        </p:nvSpPr>
        <p:spPr>
          <a:xfrm>
            <a:off x="640080" y="2944368"/>
            <a:ext cx="10881360" cy="1051560"/>
          </a:xfrm>
          <a:prstGeom prst="rect">
            <a:avLst/>
          </a:prstGeom>
          <a:solidFill>
            <a:srgbClr val="F4F7F8"/>
          </a:solidFill>
          <a:ln/>
          <a:effectLst>
            <a:outerShdw sx="100000" sy="100000" kx="0" ky="0" algn="bl" rotWithShape="0" blurRad="76200" dist="25400" dir="5400000">
              <a:srgbClr val="1F2933">
                <a:alpha val="12000"/>
              </a:srgbClr>
            </a:outerShdw>
          </a:effectLst>
        </p:spPr>
      </p:sp>
      <p:sp>
        <p:nvSpPr>
          <p:cNvPr id="9" name="Text 7"/>
          <p:cNvSpPr/>
          <p:nvPr/>
        </p:nvSpPr>
        <p:spPr>
          <a:xfrm>
            <a:off x="868680" y="3081528"/>
            <a:ext cx="914400" cy="777240"/>
          </a:xfrm>
          <a:prstGeom prst="rect">
            <a:avLst/>
          </a:prstGeom>
          <a:noFill/>
          <a:ln/>
        </p:spPr>
        <p:txBody>
          <a:bodyPr wrap="square" rtlCol="0" anchor="ctr"/>
          <a:lstStyle/>
          <a:p>
            <a:pPr indent="0" marL="0">
              <a:buNone/>
            </a:pPr>
            <a:r>
              <a:rPr lang="en-US" sz="3000" b="1" dirty="0">
                <a:solidFill>
                  <a:srgbClr val="0F9B8E"/>
                </a:solidFill>
                <a:latin typeface="Calibri" pitchFamily="34" charset="0"/>
                <a:ea typeface="Calibri" pitchFamily="34" charset="-122"/>
                <a:cs typeface="Calibri" pitchFamily="34" charset="-120"/>
              </a:rPr>
              <a:t>02</a:t>
            </a:r>
            <a:endParaRPr lang="en-US" sz="3000" dirty="0"/>
          </a:p>
        </p:txBody>
      </p:sp>
      <p:sp>
        <p:nvSpPr>
          <p:cNvPr id="10" name="Text 8"/>
          <p:cNvSpPr/>
          <p:nvPr/>
        </p:nvSpPr>
        <p:spPr>
          <a:xfrm>
            <a:off x="1920240" y="3081528"/>
            <a:ext cx="5943600" cy="457200"/>
          </a:xfrm>
          <a:prstGeom prst="rect">
            <a:avLst/>
          </a:prstGeom>
          <a:noFill/>
          <a:ln/>
        </p:spPr>
        <p:txBody>
          <a:bodyPr wrap="square" rtlCol="0" anchor="b"/>
          <a:lstStyle/>
          <a:p>
            <a:pPr indent="0" marL="0">
              <a:buNone/>
            </a:pPr>
            <a:r>
              <a:rPr lang="en-US" sz="1700" b="1" dirty="0">
                <a:solidFill>
                  <a:srgbClr val="0B2545"/>
                </a:solidFill>
                <a:latin typeface="Calibri" pitchFamily="34" charset="0"/>
                <a:ea typeface="Calibri" pitchFamily="34" charset="-122"/>
                <a:cs typeface="Calibri" pitchFamily="34" charset="-120"/>
              </a:rPr>
              <a:t>Dashboard de BI</a:t>
            </a:r>
            <a:endParaRPr lang="en-US" sz="1700" dirty="0"/>
          </a:p>
        </p:txBody>
      </p:sp>
      <p:sp>
        <p:nvSpPr>
          <p:cNvPr id="11" name="Text 9"/>
          <p:cNvSpPr/>
          <p:nvPr/>
        </p:nvSpPr>
        <p:spPr>
          <a:xfrm>
            <a:off x="1920240" y="3493008"/>
            <a:ext cx="8686800" cy="411480"/>
          </a:xfrm>
          <a:prstGeom prst="rect">
            <a:avLst/>
          </a:prstGeom>
          <a:noFill/>
          <a:ln/>
        </p:spPr>
        <p:txBody>
          <a:bodyPr wrap="square" rtlCol="0" anchor="t"/>
          <a:lstStyle/>
          <a:p>
            <a:pPr indent="0" marL="0">
              <a:buNone/>
            </a:pPr>
            <a:r>
              <a:rPr lang="en-US" sz="1200" dirty="0">
                <a:solidFill>
                  <a:srgbClr val="44515C"/>
                </a:solidFill>
                <a:latin typeface="Calibri" pitchFamily="34" charset="0"/>
                <a:ea typeface="Calibri" pitchFamily="34" charset="-122"/>
                <a:cs typeface="Calibri" pitchFamily="34" charset="-120"/>
              </a:rPr>
              <a:t>KPIs, tendencia y crecimiento por marca</a:t>
            </a:r>
            <a:endParaRPr lang="en-US" sz="1200" dirty="0"/>
          </a:p>
        </p:txBody>
      </p:sp>
      <p:sp>
        <p:nvSpPr>
          <p:cNvPr id="12" name="Shape 10"/>
          <p:cNvSpPr/>
          <p:nvPr/>
        </p:nvSpPr>
        <p:spPr>
          <a:xfrm>
            <a:off x="640080" y="4151376"/>
            <a:ext cx="10881360" cy="1051560"/>
          </a:xfrm>
          <a:prstGeom prst="rect">
            <a:avLst/>
          </a:prstGeom>
          <a:solidFill>
            <a:srgbClr val="F4F7F8"/>
          </a:solidFill>
          <a:ln/>
          <a:effectLst>
            <a:outerShdw sx="100000" sy="100000" kx="0" ky="0" algn="bl" rotWithShape="0" blurRad="76200" dist="25400" dir="5400000">
              <a:srgbClr val="1F2933">
                <a:alpha val="12000"/>
              </a:srgbClr>
            </a:outerShdw>
          </a:effectLst>
        </p:spPr>
      </p:sp>
      <p:sp>
        <p:nvSpPr>
          <p:cNvPr id="13" name="Text 11"/>
          <p:cNvSpPr/>
          <p:nvPr/>
        </p:nvSpPr>
        <p:spPr>
          <a:xfrm>
            <a:off x="868680" y="4288536"/>
            <a:ext cx="914400" cy="777240"/>
          </a:xfrm>
          <a:prstGeom prst="rect">
            <a:avLst/>
          </a:prstGeom>
          <a:noFill/>
          <a:ln/>
        </p:spPr>
        <p:txBody>
          <a:bodyPr wrap="square" rtlCol="0" anchor="ctr"/>
          <a:lstStyle/>
          <a:p>
            <a:pPr indent="0" marL="0">
              <a:buNone/>
            </a:pPr>
            <a:r>
              <a:rPr lang="en-US" sz="3000" b="1" dirty="0">
                <a:solidFill>
                  <a:srgbClr val="0F9B8E"/>
                </a:solidFill>
                <a:latin typeface="Calibri" pitchFamily="34" charset="0"/>
                <a:ea typeface="Calibri" pitchFamily="34" charset="-122"/>
                <a:cs typeface="Calibri" pitchFamily="34" charset="-120"/>
              </a:rPr>
              <a:t>03</a:t>
            </a:r>
            <a:endParaRPr lang="en-US" sz="3000" dirty="0"/>
          </a:p>
        </p:txBody>
      </p:sp>
      <p:sp>
        <p:nvSpPr>
          <p:cNvPr id="14" name="Text 12"/>
          <p:cNvSpPr/>
          <p:nvPr/>
        </p:nvSpPr>
        <p:spPr>
          <a:xfrm>
            <a:off x="1920240" y="4288536"/>
            <a:ext cx="5943600" cy="457200"/>
          </a:xfrm>
          <a:prstGeom prst="rect">
            <a:avLst/>
          </a:prstGeom>
          <a:noFill/>
          <a:ln/>
        </p:spPr>
        <p:txBody>
          <a:bodyPr wrap="square" rtlCol="0" anchor="b"/>
          <a:lstStyle/>
          <a:p>
            <a:pPr indent="0" marL="0">
              <a:buNone/>
            </a:pPr>
            <a:r>
              <a:rPr lang="en-US" sz="1700" b="1" dirty="0">
                <a:solidFill>
                  <a:srgbClr val="0B2545"/>
                </a:solidFill>
                <a:latin typeface="Calibri" pitchFamily="34" charset="0"/>
                <a:ea typeface="Calibri" pitchFamily="34" charset="-122"/>
                <a:cs typeface="Calibri" pitchFamily="34" charset="-120"/>
              </a:rPr>
              <a:t>Modelo Predictivo</a:t>
            </a:r>
            <a:endParaRPr lang="en-US" sz="1700" dirty="0"/>
          </a:p>
        </p:txBody>
      </p:sp>
      <p:sp>
        <p:nvSpPr>
          <p:cNvPr id="15" name="Text 13"/>
          <p:cNvSpPr/>
          <p:nvPr/>
        </p:nvSpPr>
        <p:spPr>
          <a:xfrm>
            <a:off x="1920240" y="4700016"/>
            <a:ext cx="8686800" cy="411480"/>
          </a:xfrm>
          <a:prstGeom prst="rect">
            <a:avLst/>
          </a:prstGeom>
          <a:noFill/>
          <a:ln/>
        </p:spPr>
        <p:txBody>
          <a:bodyPr wrap="square" rtlCol="0" anchor="t"/>
          <a:lstStyle/>
          <a:p>
            <a:pPr indent="0" marL="0">
              <a:buNone/>
            </a:pPr>
            <a:r>
              <a:rPr lang="en-US" sz="1200" dirty="0">
                <a:solidFill>
                  <a:srgbClr val="44515C"/>
                </a:solidFill>
                <a:latin typeface="Calibri" pitchFamily="34" charset="0"/>
                <a:ea typeface="Calibri" pitchFamily="34" charset="-122"/>
                <a:cs typeface="Calibri" pitchFamily="34" charset="-120"/>
              </a:rPr>
              <a:t>Metodología, comparación de modelos y métricas</a:t>
            </a:r>
            <a:endParaRPr lang="en-US" sz="1200" dirty="0"/>
          </a:p>
        </p:txBody>
      </p:sp>
      <p:sp>
        <p:nvSpPr>
          <p:cNvPr id="16" name="Shape 14"/>
          <p:cNvSpPr/>
          <p:nvPr/>
        </p:nvSpPr>
        <p:spPr>
          <a:xfrm>
            <a:off x="640080" y="5358384"/>
            <a:ext cx="10881360" cy="1051560"/>
          </a:xfrm>
          <a:prstGeom prst="rect">
            <a:avLst/>
          </a:prstGeom>
          <a:solidFill>
            <a:srgbClr val="F4F7F8"/>
          </a:solidFill>
          <a:ln/>
          <a:effectLst>
            <a:outerShdw sx="100000" sy="100000" kx="0" ky="0" algn="bl" rotWithShape="0" blurRad="76200" dist="25400" dir="5400000">
              <a:srgbClr val="1F2933">
                <a:alpha val="12000"/>
              </a:srgbClr>
            </a:outerShdw>
          </a:effectLst>
        </p:spPr>
      </p:sp>
      <p:sp>
        <p:nvSpPr>
          <p:cNvPr id="17" name="Text 15"/>
          <p:cNvSpPr/>
          <p:nvPr/>
        </p:nvSpPr>
        <p:spPr>
          <a:xfrm>
            <a:off x="868680" y="5495544"/>
            <a:ext cx="914400" cy="777240"/>
          </a:xfrm>
          <a:prstGeom prst="rect">
            <a:avLst/>
          </a:prstGeom>
          <a:noFill/>
          <a:ln/>
        </p:spPr>
        <p:txBody>
          <a:bodyPr wrap="square" rtlCol="0" anchor="ctr"/>
          <a:lstStyle/>
          <a:p>
            <a:pPr indent="0" marL="0">
              <a:buNone/>
            </a:pPr>
            <a:r>
              <a:rPr lang="en-US" sz="3000" b="1" dirty="0">
                <a:solidFill>
                  <a:srgbClr val="0F9B8E"/>
                </a:solidFill>
                <a:latin typeface="Calibri" pitchFamily="34" charset="0"/>
                <a:ea typeface="Calibri" pitchFamily="34" charset="-122"/>
                <a:cs typeface="Calibri" pitchFamily="34" charset="-120"/>
              </a:rPr>
              <a:t>04</a:t>
            </a:r>
            <a:endParaRPr lang="en-US" sz="3000" dirty="0"/>
          </a:p>
        </p:txBody>
      </p:sp>
      <p:sp>
        <p:nvSpPr>
          <p:cNvPr id="18" name="Text 16"/>
          <p:cNvSpPr/>
          <p:nvPr/>
        </p:nvSpPr>
        <p:spPr>
          <a:xfrm>
            <a:off x="1920240" y="5495544"/>
            <a:ext cx="5943600" cy="457200"/>
          </a:xfrm>
          <a:prstGeom prst="rect">
            <a:avLst/>
          </a:prstGeom>
          <a:noFill/>
          <a:ln/>
        </p:spPr>
        <p:txBody>
          <a:bodyPr wrap="square" rtlCol="0" anchor="b"/>
          <a:lstStyle/>
          <a:p>
            <a:pPr indent="0" marL="0">
              <a:buNone/>
            </a:pPr>
            <a:r>
              <a:rPr lang="en-US" sz="1700" b="1" dirty="0">
                <a:solidFill>
                  <a:srgbClr val="0B2545"/>
                </a:solidFill>
                <a:latin typeface="Calibri" pitchFamily="34" charset="0"/>
                <a:ea typeface="Calibri" pitchFamily="34" charset="-122"/>
                <a:cs typeface="Calibri" pitchFamily="34" charset="-120"/>
              </a:rPr>
              <a:t>Agente de IA (Texto → SQL)</a:t>
            </a:r>
            <a:endParaRPr lang="en-US" sz="1700" dirty="0"/>
          </a:p>
        </p:txBody>
      </p:sp>
      <p:sp>
        <p:nvSpPr>
          <p:cNvPr id="19" name="Text 17"/>
          <p:cNvSpPr/>
          <p:nvPr/>
        </p:nvSpPr>
        <p:spPr>
          <a:xfrm>
            <a:off x="1920240" y="5907024"/>
            <a:ext cx="8686800" cy="411480"/>
          </a:xfrm>
          <a:prstGeom prst="rect">
            <a:avLst/>
          </a:prstGeom>
          <a:noFill/>
          <a:ln/>
        </p:spPr>
        <p:txBody>
          <a:bodyPr wrap="square" rtlCol="0" anchor="t"/>
          <a:lstStyle/>
          <a:p>
            <a:pPr indent="0" marL="0">
              <a:buNone/>
            </a:pPr>
            <a:r>
              <a:rPr lang="en-US" sz="1200" dirty="0">
                <a:solidFill>
                  <a:srgbClr val="44515C"/>
                </a:solidFill>
                <a:latin typeface="Calibri" pitchFamily="34" charset="0"/>
                <a:ea typeface="Calibri" pitchFamily="34" charset="-122"/>
                <a:cs typeface="Calibri" pitchFamily="34" charset="-120"/>
              </a:rPr>
              <a:t>Arquitectura del agente y decisiones de stack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545"/>
          </a:solidFill>
          <a:ln/>
        </p:spPr>
      </p:sp>
      <p:sp>
        <p:nvSpPr>
          <p:cNvPr id="3" name="Text 1"/>
          <p:cNvSpPr/>
          <p:nvPr/>
        </p:nvSpPr>
        <p:spPr>
          <a:xfrm>
            <a:off x="640080" y="164592"/>
            <a:ext cx="2743200" cy="320040"/>
          </a:xfrm>
          <a:prstGeom prst="rect">
            <a:avLst/>
          </a:prstGeom>
          <a:noFill/>
          <a:ln/>
        </p:spPr>
        <p:txBody>
          <a:bodyPr wrap="square" rtlCol="0" anchor="ctr"/>
          <a:lstStyle/>
          <a:p>
            <a:pPr indent="0" marL="0">
              <a:buNone/>
            </a:pPr>
            <a:r>
              <a:rPr lang="en-US" sz="1200" b="1" spc="200" kern="0" dirty="0">
                <a:solidFill>
                  <a:srgbClr val="5FCFC0"/>
                </a:solidFill>
                <a:latin typeface="Calibri" pitchFamily="34" charset="0"/>
                <a:ea typeface="Calibri" pitchFamily="34" charset="-122"/>
                <a:cs typeface="Calibri" pitchFamily="34" charset="-120"/>
              </a:rPr>
              <a:t>PARTE 01</a:t>
            </a:r>
            <a:endParaRPr lang="en-US" sz="1200" dirty="0"/>
          </a:p>
        </p:txBody>
      </p:sp>
      <p:sp>
        <p:nvSpPr>
          <p:cNvPr id="4" name="Text 2"/>
          <p:cNvSpPr/>
          <p:nvPr/>
        </p:nvSpPr>
        <p:spPr>
          <a:xfrm>
            <a:off x="640080" y="457200"/>
            <a:ext cx="8229600" cy="502920"/>
          </a:xfrm>
          <a:prstGeom prst="rect">
            <a:avLst/>
          </a:prstGeom>
          <a:noFill/>
          <a:ln/>
        </p:spPr>
        <p:txBody>
          <a:bodyPr wrap="square" rtlCol="0" anchor="ctr"/>
          <a:lstStyle/>
          <a:p>
            <a:pPr indent="0" marL="0">
              <a:buNone/>
            </a:pPr>
            <a:r>
              <a:rPr lang="en-US" sz="2400" b="1" dirty="0">
                <a:solidFill>
                  <a:srgbClr val="F4F6F8"/>
                </a:solidFill>
                <a:latin typeface="Calibri" pitchFamily="34" charset="0"/>
                <a:ea typeface="Calibri" pitchFamily="34" charset="-122"/>
                <a:cs typeface="Calibri" pitchFamily="34" charset="-120"/>
              </a:rPr>
              <a:t>Ingeniería de Datos (ETL)</a:t>
            </a:r>
            <a:endParaRPr lang="en-US" sz="2400" dirty="0"/>
          </a:p>
        </p:txBody>
      </p:sp>
      <p:sp>
        <p:nvSpPr>
          <p:cNvPr id="5" name="Shape 3"/>
          <p:cNvSpPr/>
          <p:nvPr/>
        </p:nvSpPr>
        <p:spPr>
          <a:xfrm>
            <a:off x="640080" y="1417320"/>
            <a:ext cx="82296" cy="868680"/>
          </a:xfrm>
          <a:prstGeom prst="rect">
            <a:avLst/>
          </a:prstGeom>
          <a:solidFill>
            <a:srgbClr val="0F9B8E"/>
          </a:solidFill>
          <a:ln/>
        </p:spPr>
      </p:sp>
      <p:sp>
        <p:nvSpPr>
          <p:cNvPr id="6" name="Text 4"/>
          <p:cNvSpPr/>
          <p:nvPr/>
        </p:nvSpPr>
        <p:spPr>
          <a:xfrm>
            <a:off x="914400" y="1389888"/>
            <a:ext cx="384048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Extracción</a:t>
            </a:r>
            <a:endParaRPr lang="en-US" sz="1400" dirty="0"/>
          </a:p>
        </p:txBody>
      </p:sp>
      <p:sp>
        <p:nvSpPr>
          <p:cNvPr id="7" name="Text 5"/>
          <p:cNvSpPr/>
          <p:nvPr/>
        </p:nvSpPr>
        <p:spPr>
          <a:xfrm>
            <a:off x="914400" y="1737360"/>
            <a:ext cx="9966960" cy="502920"/>
          </a:xfrm>
          <a:prstGeom prst="rect">
            <a:avLst/>
          </a:prstGeom>
          <a:noFill/>
          <a:ln/>
        </p:spPr>
        <p:txBody>
          <a:bodyPr wrap="square" rtlCol="0" anchor="ctr"/>
          <a:lstStyle/>
          <a:p>
            <a:pPr indent="0" marL="0">
              <a:buNone/>
            </a:pPr>
            <a:r>
              <a:rPr lang="en-US" sz="1150" dirty="0">
                <a:solidFill>
                  <a:srgbClr val="44515C"/>
                </a:solidFill>
                <a:latin typeface="Calibri" pitchFamily="34" charset="0"/>
                <a:ea typeface="Calibri" pitchFamily="34" charset="-122"/>
                <a:cs typeface="Calibri" pitchFamily="34" charset="-120"/>
              </a:rPr>
              <a:t>3 fuentes: Clientes, Material y Ventas (Data_Test_1.xlsx)</a:t>
            </a:r>
            <a:endParaRPr lang="en-US" sz="1150" dirty="0"/>
          </a:p>
        </p:txBody>
      </p:sp>
      <p:sp>
        <p:nvSpPr>
          <p:cNvPr id="8" name="Shape 6"/>
          <p:cNvSpPr/>
          <p:nvPr/>
        </p:nvSpPr>
        <p:spPr>
          <a:xfrm>
            <a:off x="640080" y="2377440"/>
            <a:ext cx="82296" cy="868680"/>
          </a:xfrm>
          <a:prstGeom prst="rect">
            <a:avLst/>
          </a:prstGeom>
          <a:solidFill>
            <a:srgbClr val="0F9B8E"/>
          </a:solidFill>
          <a:ln/>
        </p:spPr>
      </p:sp>
      <p:sp>
        <p:nvSpPr>
          <p:cNvPr id="9" name="Text 7"/>
          <p:cNvSpPr/>
          <p:nvPr/>
        </p:nvSpPr>
        <p:spPr>
          <a:xfrm>
            <a:off x="914400" y="2350008"/>
            <a:ext cx="384048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Limpieza de Material</a:t>
            </a:r>
            <a:endParaRPr lang="en-US" sz="1400" dirty="0"/>
          </a:p>
        </p:txBody>
      </p:sp>
      <p:sp>
        <p:nvSpPr>
          <p:cNvPr id="10" name="Text 8"/>
          <p:cNvSpPr/>
          <p:nvPr/>
        </p:nvSpPr>
        <p:spPr>
          <a:xfrm>
            <a:off x="914400" y="2697480"/>
            <a:ext cx="9966960" cy="502920"/>
          </a:xfrm>
          <a:prstGeom prst="rect">
            <a:avLst/>
          </a:prstGeom>
          <a:noFill/>
          <a:ln/>
        </p:spPr>
        <p:txBody>
          <a:bodyPr wrap="square" rtlCol="0" anchor="ctr"/>
          <a:lstStyle/>
          <a:p>
            <a:pPr indent="0" marL="0">
              <a:buNone/>
            </a:pPr>
            <a:r>
              <a:rPr lang="en-US" sz="1150" dirty="0">
                <a:solidFill>
                  <a:srgbClr val="44515C"/>
                </a:solidFill>
                <a:latin typeface="Calibri" pitchFamily="34" charset="0"/>
                <a:ea typeface="Calibri" pitchFamily="34" charset="-122"/>
                <a:cs typeface="Calibri" pitchFamily="34" charset="-120"/>
              </a:rPr>
              <a:t>550 filas → 182 reales; se eliminaron 368 duplicados exactos</a:t>
            </a:r>
            <a:endParaRPr lang="en-US" sz="1150" dirty="0"/>
          </a:p>
        </p:txBody>
      </p:sp>
      <p:sp>
        <p:nvSpPr>
          <p:cNvPr id="11" name="Shape 9"/>
          <p:cNvSpPr/>
          <p:nvPr/>
        </p:nvSpPr>
        <p:spPr>
          <a:xfrm>
            <a:off x="640080" y="3337560"/>
            <a:ext cx="82296" cy="868680"/>
          </a:xfrm>
          <a:prstGeom prst="rect">
            <a:avLst/>
          </a:prstGeom>
          <a:solidFill>
            <a:srgbClr val="0F9B8E"/>
          </a:solidFill>
          <a:ln/>
        </p:spPr>
      </p:sp>
      <p:sp>
        <p:nvSpPr>
          <p:cNvPr id="12" name="Text 10"/>
          <p:cNvSpPr/>
          <p:nvPr/>
        </p:nvSpPr>
        <p:spPr>
          <a:xfrm>
            <a:off x="914400" y="3310128"/>
            <a:ext cx="384048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Enriquecimiento (JOIN)</a:t>
            </a:r>
            <a:endParaRPr lang="en-US" sz="1400" dirty="0"/>
          </a:p>
        </p:txBody>
      </p:sp>
      <p:sp>
        <p:nvSpPr>
          <p:cNvPr id="13" name="Text 11"/>
          <p:cNvSpPr/>
          <p:nvPr/>
        </p:nvSpPr>
        <p:spPr>
          <a:xfrm>
            <a:off x="914400" y="3657600"/>
            <a:ext cx="9966960" cy="502920"/>
          </a:xfrm>
          <a:prstGeom prst="rect">
            <a:avLst/>
          </a:prstGeom>
          <a:noFill/>
          <a:ln/>
        </p:spPr>
        <p:txBody>
          <a:bodyPr wrap="square" rtlCol="0" anchor="ctr"/>
          <a:lstStyle/>
          <a:p>
            <a:pPr indent="0" marL="0">
              <a:buNone/>
            </a:pPr>
            <a:r>
              <a:rPr lang="en-US" sz="1150" dirty="0">
                <a:solidFill>
                  <a:srgbClr val="44515C"/>
                </a:solidFill>
                <a:latin typeface="Calibri" pitchFamily="34" charset="0"/>
                <a:ea typeface="Calibri" pitchFamily="34" charset="-122"/>
                <a:cs typeface="Calibri" pitchFamily="34" charset="-120"/>
              </a:rPr>
              <a:t>dsca_cliente, dsca_material y qty_kilos llegaban 100% vacías en Ventas</a:t>
            </a:r>
            <a:endParaRPr lang="en-US" sz="1150" dirty="0"/>
          </a:p>
        </p:txBody>
      </p:sp>
      <p:sp>
        <p:nvSpPr>
          <p:cNvPr id="14" name="Shape 12"/>
          <p:cNvSpPr/>
          <p:nvPr/>
        </p:nvSpPr>
        <p:spPr>
          <a:xfrm>
            <a:off x="640080" y="4297680"/>
            <a:ext cx="82296" cy="868680"/>
          </a:xfrm>
          <a:prstGeom prst="rect">
            <a:avLst/>
          </a:prstGeom>
          <a:solidFill>
            <a:srgbClr val="0F9B8E"/>
          </a:solidFill>
          <a:ln/>
        </p:spPr>
      </p:sp>
      <p:sp>
        <p:nvSpPr>
          <p:cNvPr id="15" name="Text 13"/>
          <p:cNvSpPr/>
          <p:nvPr/>
        </p:nvSpPr>
        <p:spPr>
          <a:xfrm>
            <a:off x="914400" y="4270248"/>
            <a:ext cx="384048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Cálculo de métricas</a:t>
            </a:r>
            <a:endParaRPr lang="en-US" sz="1400" dirty="0"/>
          </a:p>
        </p:txBody>
      </p:sp>
      <p:sp>
        <p:nvSpPr>
          <p:cNvPr id="16" name="Text 14"/>
          <p:cNvSpPr/>
          <p:nvPr/>
        </p:nvSpPr>
        <p:spPr>
          <a:xfrm>
            <a:off x="914400" y="4617720"/>
            <a:ext cx="9966960" cy="502920"/>
          </a:xfrm>
          <a:prstGeom prst="rect">
            <a:avLst/>
          </a:prstGeom>
          <a:noFill/>
          <a:ln/>
        </p:spPr>
        <p:txBody>
          <a:bodyPr wrap="square" rtlCol="0" anchor="ctr"/>
          <a:lstStyle/>
          <a:p>
            <a:pPr indent="0" marL="0">
              <a:buNone/>
            </a:pPr>
            <a:r>
              <a:rPr lang="en-US" sz="1150" dirty="0">
                <a:solidFill>
                  <a:srgbClr val="44515C"/>
                </a:solidFill>
                <a:latin typeface="Calibri" pitchFamily="34" charset="0"/>
                <a:ea typeface="Calibri" pitchFamily="34" charset="-122"/>
                <a:cs typeface="Calibri" pitchFamily="34" charset="-120"/>
              </a:rPr>
              <a:t>qty_kilos = qty_entregada × factor_kg (maestro Material)</a:t>
            </a:r>
            <a:endParaRPr lang="en-US" sz="1150" dirty="0"/>
          </a:p>
        </p:txBody>
      </p:sp>
      <p:sp>
        <p:nvSpPr>
          <p:cNvPr id="17" name="Shape 15"/>
          <p:cNvSpPr/>
          <p:nvPr/>
        </p:nvSpPr>
        <p:spPr>
          <a:xfrm>
            <a:off x="640080" y="5257800"/>
            <a:ext cx="82296" cy="868680"/>
          </a:xfrm>
          <a:prstGeom prst="rect">
            <a:avLst/>
          </a:prstGeom>
          <a:solidFill>
            <a:srgbClr val="0F9B8E"/>
          </a:solidFill>
          <a:ln/>
        </p:spPr>
      </p:sp>
      <p:sp>
        <p:nvSpPr>
          <p:cNvPr id="18" name="Text 16"/>
          <p:cNvSpPr/>
          <p:nvPr/>
        </p:nvSpPr>
        <p:spPr>
          <a:xfrm>
            <a:off x="914400" y="5230368"/>
            <a:ext cx="384048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Validación</a:t>
            </a:r>
            <a:endParaRPr lang="en-US" sz="1400" dirty="0"/>
          </a:p>
        </p:txBody>
      </p:sp>
      <p:sp>
        <p:nvSpPr>
          <p:cNvPr id="19" name="Text 17"/>
          <p:cNvSpPr/>
          <p:nvPr/>
        </p:nvSpPr>
        <p:spPr>
          <a:xfrm>
            <a:off x="914400" y="5577840"/>
            <a:ext cx="9966960" cy="502920"/>
          </a:xfrm>
          <a:prstGeom prst="rect">
            <a:avLst/>
          </a:prstGeom>
          <a:noFill/>
          <a:ln/>
        </p:spPr>
        <p:txBody>
          <a:bodyPr wrap="square" rtlCol="0" anchor="ctr"/>
          <a:lstStyle/>
          <a:p>
            <a:pPr indent="0" marL="0">
              <a:buNone/>
            </a:pPr>
            <a:r>
              <a:rPr lang="en-US" sz="1150" dirty="0">
                <a:solidFill>
                  <a:srgbClr val="44515C"/>
                </a:solidFill>
                <a:latin typeface="Calibri" pitchFamily="34" charset="0"/>
                <a:ea typeface="Calibri" pitchFamily="34" charset="-122"/>
                <a:cs typeface="Calibri" pitchFamily="34" charset="-120"/>
              </a:rPr>
              <a:t>0 registros huérfanos: integridad referencial confirmada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9144000" cy="548640"/>
          </a:xfrm>
          <a:prstGeom prst="rect">
            <a:avLst/>
          </a:prstGeom>
          <a:noFill/>
          <a:ln/>
        </p:spPr>
        <p:txBody>
          <a:bodyPr wrap="square"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Hallazgo clave y arquitectura propuesta</a:t>
            </a:r>
            <a:endParaRPr lang="en-US" sz="2400" dirty="0"/>
          </a:p>
        </p:txBody>
      </p:sp>
      <p:sp>
        <p:nvSpPr>
          <p:cNvPr id="3" name="Shape 1"/>
          <p:cNvSpPr/>
          <p:nvPr/>
        </p:nvSpPr>
        <p:spPr>
          <a:xfrm>
            <a:off x="640080" y="1234440"/>
            <a:ext cx="5212080" cy="5029200"/>
          </a:xfrm>
          <a:prstGeom prst="rect">
            <a:avLst/>
          </a:prstGeom>
          <a:solidFill>
            <a:srgbClr val="F4F7F8"/>
          </a:solidFill>
          <a:ln/>
        </p:spPr>
      </p:sp>
      <p:sp>
        <p:nvSpPr>
          <p:cNvPr id="4" name="Shape 2"/>
          <p:cNvSpPr/>
          <p:nvPr/>
        </p:nvSpPr>
        <p:spPr>
          <a:xfrm>
            <a:off x="640080" y="1234440"/>
            <a:ext cx="5212080" cy="548640"/>
          </a:xfrm>
          <a:prstGeom prst="rect">
            <a:avLst/>
          </a:prstGeom>
          <a:solidFill>
            <a:srgbClr val="C4453A"/>
          </a:solidFill>
          <a:ln/>
        </p:spPr>
      </p:sp>
      <p:sp>
        <p:nvSpPr>
          <p:cNvPr id="5" name="Text 3"/>
          <p:cNvSpPr/>
          <p:nvPr/>
        </p:nvSpPr>
        <p:spPr>
          <a:xfrm>
            <a:off x="868680" y="1234440"/>
            <a:ext cx="4754880" cy="5486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Anomalía detectada en 'costos'</a:t>
            </a:r>
            <a:endParaRPr lang="en-US" sz="1400" dirty="0"/>
          </a:p>
        </p:txBody>
      </p:sp>
      <p:sp>
        <p:nvSpPr>
          <p:cNvPr id="6" name="Text 4"/>
          <p:cNvSpPr/>
          <p:nvPr/>
        </p:nvSpPr>
        <p:spPr>
          <a:xfrm>
            <a:off x="868680" y="1965960"/>
            <a:ext cx="4754880" cy="4114800"/>
          </a:xfrm>
          <a:prstGeom prst="rect">
            <a:avLst/>
          </a:prstGeom>
          <a:noFill/>
          <a:ln/>
        </p:spPr>
        <p:txBody>
          <a:bodyPr wrap="square" rtlCol="0" anchor="t"/>
          <a:lstStyle/>
          <a:p>
            <a:pPr indent="0" marL="0">
              <a:lnSpc>
                <a:spcPct val="125000"/>
              </a:lnSpc>
              <a:buNone/>
            </a:pPr>
            <a:r>
              <a:rPr lang="en-US" sz="1200" b="1" dirty="0">
                <a:solidFill>
                  <a:srgbClr val="0B2545"/>
                </a:solidFill>
                <a:latin typeface="Calibri" pitchFamily="34" charset="0"/>
                <a:ea typeface="Calibri" pitchFamily="34" charset="-122"/>
                <a:cs typeface="Calibri" pitchFamily="34" charset="-120"/>
              </a:rPr>
              <a:t>499 de 500 filas </a:t>
            </a:r>
            <a:pPr indent="0" marL="0">
              <a:lnSpc>
                <a:spcPct val="125000"/>
              </a:lnSpc>
              <a:buNone/>
            </a:pPr>
            <a:r>
              <a:rPr lang="en-US" sz="1200" dirty="0">
                <a:solidFill>
                  <a:srgbClr val="44515C"/>
                </a:solidFill>
                <a:latin typeface="Calibri" pitchFamily="34" charset="0"/>
                <a:ea typeface="Calibri" pitchFamily="34" charset="-122"/>
                <a:cs typeface="Calibri" pitchFamily="34" charset="-120"/>
              </a:rPr>
              <a:t>dan margen negativo (venta_neta − costos).
</a:t>
            </a:r>
            <a:pPr indent="0" marL="0">
              <a:lnSpc>
                <a:spcPct val="125000"/>
              </a:lnSpc>
              <a:buNone/>
            </a:pPr>
            <a:r>
              <a:rPr lang="en-US" sz="1200" dirty="0">
                <a:solidFill>
                  <a:srgbClr val="44515C"/>
                </a:solidFill>
                <a:latin typeface="Calibri" pitchFamily="34" charset="0"/>
                <a:ea typeface="Calibri" pitchFamily="34" charset="-122"/>
                <a:cs typeface="Calibri" pitchFamily="34" charset="-120"/>
              </a:rPr>
              <a:t>La columna costos se mueve en un rango muy estrecho (~920–935) sin relación proporcional con venta_neta, que va de 0 a 1.600.
</a:t>
            </a:r>
            <a:pPr indent="0" marL="0">
              <a:lnSpc>
                <a:spcPct val="125000"/>
              </a:lnSpc>
              <a:buNone/>
            </a:pPr>
            <a:r>
              <a:rPr lang="en-US" sz="1200" b="1" dirty="0">
                <a:solidFill>
                  <a:srgbClr val="0B2545"/>
                </a:solidFill>
                <a:latin typeface="Calibri" pitchFamily="34" charset="0"/>
                <a:ea typeface="Calibri" pitchFamily="34" charset="-122"/>
                <a:cs typeface="Calibri" pitchFamily="34" charset="-120"/>
              </a:rPr>
              <a:t>Decisión tomada: </a:t>
            </a:r>
            <a:pPr indent="0" marL="0">
              <a:lnSpc>
                <a:spcPct val="125000"/>
              </a:lnSpc>
              <a:buNone/>
            </a:pPr>
            <a:r>
              <a:rPr lang="en-US" sz="1200" dirty="0">
                <a:solidFill>
                  <a:srgbClr val="44515C"/>
                </a:solidFill>
                <a:latin typeface="Calibri" pitchFamily="34" charset="0"/>
                <a:ea typeface="Calibri" pitchFamily="34" charset="-122"/>
                <a:cs typeface="Calibri" pitchFamily="34" charset="-120"/>
              </a:rPr>
              <a:t>se documenta la anomalía y se calcula el KPI igual, dejando explícito que en producción se validaría con el área de Finanzas antes de publicarlo.</a:t>
            </a:r>
            <a:endParaRPr lang="en-US" sz="1200" dirty="0"/>
          </a:p>
        </p:txBody>
      </p:sp>
      <p:sp>
        <p:nvSpPr>
          <p:cNvPr id="7" name="Text 5"/>
          <p:cNvSpPr/>
          <p:nvPr/>
        </p:nvSpPr>
        <p:spPr>
          <a:xfrm>
            <a:off x="6172200" y="1234440"/>
            <a:ext cx="548640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Arquitectura de datos propuesta</a:t>
            </a:r>
            <a:endParaRPr lang="en-US" sz="1400" dirty="0"/>
          </a:p>
        </p:txBody>
      </p:sp>
      <p:sp>
        <p:nvSpPr>
          <p:cNvPr id="8" name="Shape 6"/>
          <p:cNvSpPr/>
          <p:nvPr/>
        </p:nvSpPr>
        <p:spPr>
          <a:xfrm>
            <a:off x="6172200" y="1737360"/>
            <a:ext cx="5394960" cy="868680"/>
          </a:xfrm>
          <a:prstGeom prst="rect">
            <a:avLst/>
          </a:prstGeom>
          <a:solidFill>
            <a:srgbClr val="0B2545"/>
          </a:solidFill>
          <a:ln/>
        </p:spPr>
      </p:sp>
      <p:sp>
        <p:nvSpPr>
          <p:cNvPr id="9" name="Text 7"/>
          <p:cNvSpPr/>
          <p:nvPr/>
        </p:nvSpPr>
        <p:spPr>
          <a:xfrm>
            <a:off x="6382512" y="1810512"/>
            <a:ext cx="50292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SAP HANA</a:t>
            </a:r>
            <a:endParaRPr lang="en-US" sz="1300" dirty="0"/>
          </a:p>
        </p:txBody>
      </p:sp>
      <p:sp>
        <p:nvSpPr>
          <p:cNvPr id="10" name="Text 8"/>
          <p:cNvSpPr/>
          <p:nvPr/>
        </p:nvSpPr>
        <p:spPr>
          <a:xfrm>
            <a:off x="6382512" y="2148840"/>
            <a:ext cx="5029200" cy="384048"/>
          </a:xfrm>
          <a:prstGeom prst="rect">
            <a:avLst/>
          </a:prstGeom>
          <a:noFill/>
          <a:ln/>
        </p:spPr>
        <p:txBody>
          <a:bodyPr wrap="square" rtlCol="0" anchor="ctr"/>
          <a:lstStyle/>
          <a:p>
            <a:pPr indent="0" marL="0">
              <a:buNone/>
            </a:pPr>
            <a:r>
              <a:rPr lang="en-US" sz="1050" dirty="0">
                <a:solidFill>
                  <a:srgbClr val="E7EEF3"/>
                </a:solidFill>
                <a:latin typeface="Calibri" pitchFamily="34" charset="0"/>
                <a:ea typeface="Calibri" pitchFamily="34" charset="-122"/>
                <a:cs typeface="Calibri" pitchFamily="34" charset="-120"/>
              </a:rPr>
              <a:t>Sistema origen transaccional</a:t>
            </a:r>
            <a:endParaRPr lang="en-US" sz="1050" dirty="0"/>
          </a:p>
        </p:txBody>
      </p:sp>
      <p:sp>
        <p:nvSpPr>
          <p:cNvPr id="11" name="Text 9"/>
          <p:cNvSpPr/>
          <p:nvPr/>
        </p:nvSpPr>
        <p:spPr>
          <a:xfrm>
            <a:off x="8595360" y="2560320"/>
            <a:ext cx="548640" cy="274320"/>
          </a:xfrm>
          <a:prstGeom prst="rect">
            <a:avLst/>
          </a:prstGeom>
          <a:noFill/>
          <a:ln/>
        </p:spPr>
        <p:txBody>
          <a:bodyPr wrap="square" rtlCol="0" anchor="ctr"/>
          <a:lstStyle/>
          <a:p>
            <a:pPr algn="ctr" indent="0" marL="0">
              <a:buNone/>
            </a:pPr>
            <a:r>
              <a:rPr lang="en-US" sz="1400" dirty="0">
                <a:solidFill>
                  <a:srgbClr val="44515C"/>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6172200" y="2770632"/>
            <a:ext cx="5394960" cy="868680"/>
          </a:xfrm>
          <a:prstGeom prst="rect">
            <a:avLst/>
          </a:prstGeom>
          <a:solidFill>
            <a:srgbClr val="0F9B8E"/>
          </a:solidFill>
          <a:ln/>
        </p:spPr>
      </p:sp>
      <p:sp>
        <p:nvSpPr>
          <p:cNvPr id="13" name="Text 11"/>
          <p:cNvSpPr/>
          <p:nvPr/>
        </p:nvSpPr>
        <p:spPr>
          <a:xfrm>
            <a:off x="6382512" y="2843784"/>
            <a:ext cx="50292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BigQuery — Raw</a:t>
            </a:r>
            <a:endParaRPr lang="en-US" sz="1300" dirty="0"/>
          </a:p>
        </p:txBody>
      </p:sp>
      <p:sp>
        <p:nvSpPr>
          <p:cNvPr id="14" name="Text 12"/>
          <p:cNvSpPr/>
          <p:nvPr/>
        </p:nvSpPr>
        <p:spPr>
          <a:xfrm>
            <a:off x="6382512" y="3182112"/>
            <a:ext cx="5029200" cy="384048"/>
          </a:xfrm>
          <a:prstGeom prst="rect">
            <a:avLst/>
          </a:prstGeom>
          <a:noFill/>
          <a:ln/>
        </p:spPr>
        <p:txBody>
          <a:bodyPr wrap="square" rtlCol="0" anchor="ctr"/>
          <a:lstStyle/>
          <a:p>
            <a:pPr indent="0" marL="0">
              <a:buNone/>
            </a:pPr>
            <a:r>
              <a:rPr lang="en-US" sz="1050" dirty="0">
                <a:solidFill>
                  <a:srgbClr val="E7EEF3"/>
                </a:solidFill>
                <a:latin typeface="Calibri" pitchFamily="34" charset="0"/>
                <a:ea typeface="Calibri" pitchFamily="34" charset="-122"/>
                <a:cs typeface="Calibri" pitchFamily="34" charset="-120"/>
              </a:rPr>
              <a:t>Extracción cruda, sin transformar</a:t>
            </a:r>
            <a:endParaRPr lang="en-US" sz="1050" dirty="0"/>
          </a:p>
        </p:txBody>
      </p:sp>
      <p:sp>
        <p:nvSpPr>
          <p:cNvPr id="15" name="Text 13"/>
          <p:cNvSpPr/>
          <p:nvPr/>
        </p:nvSpPr>
        <p:spPr>
          <a:xfrm>
            <a:off x="8595360" y="3593592"/>
            <a:ext cx="548640" cy="274320"/>
          </a:xfrm>
          <a:prstGeom prst="rect">
            <a:avLst/>
          </a:prstGeom>
          <a:noFill/>
          <a:ln/>
        </p:spPr>
        <p:txBody>
          <a:bodyPr wrap="square" rtlCol="0" anchor="ctr"/>
          <a:lstStyle/>
          <a:p>
            <a:pPr algn="ctr" indent="0" marL="0">
              <a:buNone/>
            </a:pPr>
            <a:r>
              <a:rPr lang="en-US" sz="1400" dirty="0">
                <a:solidFill>
                  <a:srgbClr val="44515C"/>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6172200" y="3803904"/>
            <a:ext cx="5394960" cy="868680"/>
          </a:xfrm>
          <a:prstGeom prst="rect">
            <a:avLst/>
          </a:prstGeom>
          <a:solidFill>
            <a:srgbClr val="0B2545"/>
          </a:solidFill>
          <a:ln/>
        </p:spPr>
      </p:sp>
      <p:sp>
        <p:nvSpPr>
          <p:cNvPr id="17" name="Text 15"/>
          <p:cNvSpPr/>
          <p:nvPr/>
        </p:nvSpPr>
        <p:spPr>
          <a:xfrm>
            <a:off x="6382512" y="3877056"/>
            <a:ext cx="50292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Dataform — Staging → Core → Marts</a:t>
            </a:r>
            <a:endParaRPr lang="en-US" sz="1300" dirty="0"/>
          </a:p>
        </p:txBody>
      </p:sp>
      <p:sp>
        <p:nvSpPr>
          <p:cNvPr id="18" name="Text 16"/>
          <p:cNvSpPr/>
          <p:nvPr/>
        </p:nvSpPr>
        <p:spPr>
          <a:xfrm>
            <a:off x="6382512" y="4215384"/>
            <a:ext cx="5029200" cy="384048"/>
          </a:xfrm>
          <a:prstGeom prst="rect">
            <a:avLst/>
          </a:prstGeom>
          <a:noFill/>
          <a:ln/>
        </p:spPr>
        <p:txBody>
          <a:bodyPr wrap="square" rtlCol="0" anchor="ctr"/>
          <a:lstStyle/>
          <a:p>
            <a:pPr indent="0" marL="0">
              <a:buNone/>
            </a:pPr>
            <a:r>
              <a:rPr lang="en-US" sz="1050" dirty="0">
                <a:solidFill>
                  <a:srgbClr val="E7EEF3"/>
                </a:solidFill>
                <a:latin typeface="Calibri" pitchFamily="34" charset="0"/>
                <a:ea typeface="Calibri" pitchFamily="34" charset="-122"/>
                <a:cs typeface="Calibri" pitchFamily="34" charset="-120"/>
              </a:rPr>
              <a:t>Transformación en capas + pruebas de calidad (assertions)</a:t>
            </a:r>
            <a:endParaRPr lang="en-US" sz="1050" dirty="0"/>
          </a:p>
        </p:txBody>
      </p:sp>
      <p:sp>
        <p:nvSpPr>
          <p:cNvPr id="19" name="Text 17"/>
          <p:cNvSpPr/>
          <p:nvPr/>
        </p:nvSpPr>
        <p:spPr>
          <a:xfrm>
            <a:off x="8595360" y="4626864"/>
            <a:ext cx="548640" cy="274320"/>
          </a:xfrm>
          <a:prstGeom prst="rect">
            <a:avLst/>
          </a:prstGeom>
          <a:noFill/>
          <a:ln/>
        </p:spPr>
        <p:txBody>
          <a:bodyPr wrap="square" rtlCol="0" anchor="ctr"/>
          <a:lstStyle/>
          <a:p>
            <a:pPr algn="ctr" indent="0" marL="0">
              <a:buNone/>
            </a:pPr>
            <a:r>
              <a:rPr lang="en-US" sz="1400" dirty="0">
                <a:solidFill>
                  <a:srgbClr val="44515C"/>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6172200" y="4837176"/>
            <a:ext cx="5394960" cy="868680"/>
          </a:xfrm>
          <a:prstGeom prst="rect">
            <a:avLst/>
          </a:prstGeom>
          <a:solidFill>
            <a:srgbClr val="0F9B8E"/>
          </a:solidFill>
          <a:ln/>
        </p:spPr>
      </p:sp>
      <p:sp>
        <p:nvSpPr>
          <p:cNvPr id="21" name="Text 19"/>
          <p:cNvSpPr/>
          <p:nvPr/>
        </p:nvSpPr>
        <p:spPr>
          <a:xfrm>
            <a:off x="6382512" y="4910328"/>
            <a:ext cx="50292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Power BI / Looker</a:t>
            </a:r>
            <a:endParaRPr lang="en-US" sz="1300" dirty="0"/>
          </a:p>
        </p:txBody>
      </p:sp>
      <p:sp>
        <p:nvSpPr>
          <p:cNvPr id="22" name="Text 20"/>
          <p:cNvSpPr/>
          <p:nvPr/>
        </p:nvSpPr>
        <p:spPr>
          <a:xfrm>
            <a:off x="6382512" y="5248656"/>
            <a:ext cx="5029200" cy="384048"/>
          </a:xfrm>
          <a:prstGeom prst="rect">
            <a:avLst/>
          </a:prstGeom>
          <a:noFill/>
          <a:ln/>
        </p:spPr>
        <p:txBody>
          <a:bodyPr wrap="square" rtlCol="0" anchor="ctr"/>
          <a:lstStyle/>
          <a:p>
            <a:pPr indent="0" marL="0">
              <a:buNone/>
            </a:pPr>
            <a:r>
              <a:rPr lang="en-US" sz="1050" dirty="0">
                <a:solidFill>
                  <a:srgbClr val="E7EEF3"/>
                </a:solidFill>
                <a:latin typeface="Calibri" pitchFamily="34" charset="0"/>
                <a:ea typeface="Calibri" pitchFamily="34" charset="-122"/>
                <a:cs typeface="Calibri" pitchFamily="34" charset="-120"/>
              </a:rPr>
              <a:t>Consumo final: dashboards y modelos</a:t>
            </a:r>
            <a:endParaRPr lang="en-US" sz="1050" dirty="0"/>
          </a:p>
        </p:txBody>
      </p:sp>
      <p:sp>
        <p:nvSpPr>
          <p:cNvPr id="23" name="Text 21"/>
          <p:cNvSpPr/>
          <p:nvPr/>
        </p:nvSpPr>
        <p:spPr>
          <a:xfrm>
            <a:off x="6172200" y="5916168"/>
            <a:ext cx="5394960" cy="457200"/>
          </a:xfrm>
          <a:prstGeom prst="rect">
            <a:avLst/>
          </a:prstGeom>
          <a:noFill/>
          <a:ln/>
        </p:spPr>
        <p:txBody>
          <a:bodyPr wrap="square" rtlCol="0" anchor="ctr"/>
          <a:lstStyle/>
          <a:p>
            <a:pPr indent="0" marL="0">
              <a:buNone/>
            </a:pPr>
            <a:r>
              <a:rPr lang="en-US" sz="1000" i="1" dirty="0">
                <a:solidFill>
                  <a:srgbClr val="44515C"/>
                </a:solidFill>
                <a:latin typeface="Calibri" pitchFamily="34" charset="0"/>
                <a:ea typeface="Calibri" pitchFamily="34" charset="-122"/>
                <a:cs typeface="Calibri" pitchFamily="34" charset="-120"/>
              </a:rPr>
              <a:t>Gobernanza: linaje de datos, control de versiones en Git y permisos por dataset.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545"/>
          </a:solidFill>
          <a:ln/>
        </p:spPr>
      </p:sp>
      <p:sp>
        <p:nvSpPr>
          <p:cNvPr id="3" name="Text 1"/>
          <p:cNvSpPr/>
          <p:nvPr/>
        </p:nvSpPr>
        <p:spPr>
          <a:xfrm>
            <a:off x="640080" y="164592"/>
            <a:ext cx="2743200" cy="320040"/>
          </a:xfrm>
          <a:prstGeom prst="rect">
            <a:avLst/>
          </a:prstGeom>
          <a:noFill/>
          <a:ln/>
        </p:spPr>
        <p:txBody>
          <a:bodyPr wrap="square" rtlCol="0" anchor="ctr"/>
          <a:lstStyle/>
          <a:p>
            <a:pPr indent="0" marL="0">
              <a:buNone/>
            </a:pPr>
            <a:r>
              <a:rPr lang="en-US" sz="1200" b="1" spc="200" kern="0" dirty="0">
                <a:solidFill>
                  <a:srgbClr val="5FCFC0"/>
                </a:solidFill>
                <a:latin typeface="Calibri" pitchFamily="34" charset="0"/>
                <a:ea typeface="Calibri" pitchFamily="34" charset="-122"/>
                <a:cs typeface="Calibri" pitchFamily="34" charset="-120"/>
              </a:rPr>
              <a:t>PARTE 02</a:t>
            </a:r>
            <a:endParaRPr lang="en-US" sz="1200" dirty="0"/>
          </a:p>
        </p:txBody>
      </p:sp>
      <p:sp>
        <p:nvSpPr>
          <p:cNvPr id="4" name="Text 2"/>
          <p:cNvSpPr/>
          <p:nvPr/>
        </p:nvSpPr>
        <p:spPr>
          <a:xfrm>
            <a:off x="640080" y="457200"/>
            <a:ext cx="8229600" cy="502920"/>
          </a:xfrm>
          <a:prstGeom prst="rect">
            <a:avLst/>
          </a:prstGeom>
          <a:noFill/>
          <a:ln/>
        </p:spPr>
        <p:txBody>
          <a:bodyPr wrap="square" rtlCol="0" anchor="ctr"/>
          <a:lstStyle/>
          <a:p>
            <a:pPr indent="0" marL="0">
              <a:buNone/>
            </a:pPr>
            <a:r>
              <a:rPr lang="en-US" sz="2400" b="1" dirty="0">
                <a:solidFill>
                  <a:srgbClr val="F4F6F8"/>
                </a:solidFill>
                <a:latin typeface="Calibri" pitchFamily="34" charset="0"/>
                <a:ea typeface="Calibri" pitchFamily="34" charset="-122"/>
                <a:cs typeface="Calibri" pitchFamily="34" charset="-120"/>
              </a:rPr>
              <a:t>Dashboard de BI — Power BI</a:t>
            </a:r>
            <a:endParaRPr lang="en-US" sz="2400" dirty="0"/>
          </a:p>
        </p:txBody>
      </p:sp>
      <p:sp>
        <p:nvSpPr>
          <p:cNvPr id="5" name="Shape 3"/>
          <p:cNvSpPr/>
          <p:nvPr/>
        </p:nvSpPr>
        <p:spPr>
          <a:xfrm>
            <a:off x="640080" y="1417320"/>
            <a:ext cx="3520440" cy="1554480"/>
          </a:xfrm>
          <a:prstGeom prst="rect">
            <a:avLst/>
          </a:prstGeom>
          <a:solidFill>
            <a:srgbClr val="F4F7F8"/>
          </a:solidFill>
          <a:ln/>
        </p:spPr>
      </p:sp>
      <p:sp>
        <p:nvSpPr>
          <p:cNvPr id="6" name="Shape 4"/>
          <p:cNvSpPr/>
          <p:nvPr/>
        </p:nvSpPr>
        <p:spPr>
          <a:xfrm>
            <a:off x="640080" y="1417320"/>
            <a:ext cx="82296" cy="1554480"/>
          </a:xfrm>
          <a:prstGeom prst="rect">
            <a:avLst/>
          </a:prstGeom>
          <a:solidFill>
            <a:srgbClr val="0F9B8E"/>
          </a:solidFill>
          <a:ln/>
        </p:spPr>
      </p:sp>
      <p:sp>
        <p:nvSpPr>
          <p:cNvPr id="7" name="Text 5"/>
          <p:cNvSpPr/>
          <p:nvPr/>
        </p:nvSpPr>
        <p:spPr>
          <a:xfrm>
            <a:off x="914400" y="1600200"/>
            <a:ext cx="3017520" cy="640080"/>
          </a:xfrm>
          <a:prstGeom prst="rect">
            <a:avLst/>
          </a:prstGeom>
          <a:noFill/>
          <a:ln/>
        </p:spPr>
        <p:txBody>
          <a:bodyPr wrap="square"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$8.82 mil</a:t>
            </a:r>
            <a:endParaRPr lang="en-US" sz="2600" dirty="0"/>
          </a:p>
        </p:txBody>
      </p:sp>
      <p:sp>
        <p:nvSpPr>
          <p:cNvPr id="8" name="Text 6"/>
          <p:cNvSpPr/>
          <p:nvPr/>
        </p:nvSpPr>
        <p:spPr>
          <a:xfrm>
            <a:off x="914400" y="2240280"/>
            <a:ext cx="3017520" cy="594360"/>
          </a:xfrm>
          <a:prstGeom prst="rect">
            <a:avLst/>
          </a:prstGeom>
          <a:noFill/>
          <a:ln/>
        </p:spPr>
        <p:txBody>
          <a:bodyPr wrap="square" rtlCol="0" anchor="ctr"/>
          <a:lstStyle/>
          <a:p>
            <a:pPr indent="0" marL="0">
              <a:buNone/>
            </a:pPr>
            <a:r>
              <a:rPr lang="en-US" sz="1100" dirty="0">
                <a:solidFill>
                  <a:srgbClr val="44515C"/>
                </a:solidFill>
                <a:latin typeface="Calibri" pitchFamily="34" charset="0"/>
                <a:ea typeface="Calibri" pitchFamily="34" charset="-122"/>
                <a:cs typeface="Calibri" pitchFamily="34" charset="-120"/>
              </a:rPr>
              <a:t>Venta Neta Total</a:t>
            </a:r>
            <a:endParaRPr lang="en-US" sz="1100" dirty="0"/>
          </a:p>
        </p:txBody>
      </p:sp>
      <p:sp>
        <p:nvSpPr>
          <p:cNvPr id="9" name="Shape 7"/>
          <p:cNvSpPr/>
          <p:nvPr/>
        </p:nvSpPr>
        <p:spPr>
          <a:xfrm>
            <a:off x="4434840" y="1417320"/>
            <a:ext cx="3520440" cy="1554480"/>
          </a:xfrm>
          <a:prstGeom prst="rect">
            <a:avLst/>
          </a:prstGeom>
          <a:solidFill>
            <a:srgbClr val="F4F7F8"/>
          </a:solidFill>
          <a:ln/>
        </p:spPr>
      </p:sp>
      <p:sp>
        <p:nvSpPr>
          <p:cNvPr id="10" name="Shape 8"/>
          <p:cNvSpPr/>
          <p:nvPr/>
        </p:nvSpPr>
        <p:spPr>
          <a:xfrm>
            <a:off x="4434840" y="1417320"/>
            <a:ext cx="82296" cy="1554480"/>
          </a:xfrm>
          <a:prstGeom prst="rect">
            <a:avLst/>
          </a:prstGeom>
          <a:solidFill>
            <a:srgbClr val="E8A33D"/>
          </a:solidFill>
          <a:ln/>
        </p:spPr>
      </p:sp>
      <p:sp>
        <p:nvSpPr>
          <p:cNvPr id="11" name="Text 9"/>
          <p:cNvSpPr/>
          <p:nvPr/>
        </p:nvSpPr>
        <p:spPr>
          <a:xfrm>
            <a:off x="4709160" y="1600200"/>
            <a:ext cx="3017520" cy="640080"/>
          </a:xfrm>
          <a:prstGeom prst="rect">
            <a:avLst/>
          </a:prstGeom>
          <a:noFill/>
          <a:ln/>
        </p:spPr>
        <p:txBody>
          <a:bodyPr wrap="square"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+1.45%</a:t>
            </a:r>
            <a:endParaRPr lang="en-US" sz="2600" dirty="0"/>
          </a:p>
        </p:txBody>
      </p:sp>
      <p:sp>
        <p:nvSpPr>
          <p:cNvPr id="12" name="Text 10"/>
          <p:cNvSpPr/>
          <p:nvPr/>
        </p:nvSpPr>
        <p:spPr>
          <a:xfrm>
            <a:off x="4709160" y="2240280"/>
            <a:ext cx="3017520" cy="594360"/>
          </a:xfrm>
          <a:prstGeom prst="rect">
            <a:avLst/>
          </a:prstGeom>
          <a:noFill/>
          <a:ln/>
        </p:spPr>
        <p:txBody>
          <a:bodyPr wrap="square" rtlCol="0" anchor="ctr"/>
          <a:lstStyle/>
          <a:p>
            <a:pPr indent="0" marL="0">
              <a:buNone/>
            </a:pPr>
            <a:r>
              <a:rPr lang="en-US" sz="1100" dirty="0">
                <a:solidFill>
                  <a:srgbClr val="44515C"/>
                </a:solidFill>
                <a:latin typeface="Calibri" pitchFamily="34" charset="0"/>
                <a:ea typeface="Calibri" pitchFamily="34" charset="-122"/>
                <a:cs typeface="Calibri" pitchFamily="34" charset="-120"/>
              </a:rPr>
              <a:t>Crecimiento vs Mes Anterior</a:t>
            </a:r>
            <a:endParaRPr lang="en-US" sz="1100" dirty="0"/>
          </a:p>
        </p:txBody>
      </p:sp>
      <p:sp>
        <p:nvSpPr>
          <p:cNvPr id="13" name="Shape 11"/>
          <p:cNvSpPr/>
          <p:nvPr/>
        </p:nvSpPr>
        <p:spPr>
          <a:xfrm>
            <a:off x="8229600" y="1417320"/>
            <a:ext cx="3520440" cy="1554480"/>
          </a:xfrm>
          <a:prstGeom prst="rect">
            <a:avLst/>
          </a:prstGeom>
          <a:solidFill>
            <a:srgbClr val="F4F7F8"/>
          </a:solidFill>
          <a:ln/>
        </p:spPr>
      </p:sp>
      <p:sp>
        <p:nvSpPr>
          <p:cNvPr id="14" name="Shape 12"/>
          <p:cNvSpPr/>
          <p:nvPr/>
        </p:nvSpPr>
        <p:spPr>
          <a:xfrm>
            <a:off x="8229600" y="1417320"/>
            <a:ext cx="82296" cy="1554480"/>
          </a:xfrm>
          <a:prstGeom prst="rect">
            <a:avLst/>
          </a:prstGeom>
          <a:solidFill>
            <a:srgbClr val="C4453A"/>
          </a:solidFill>
          <a:ln/>
        </p:spPr>
      </p:sp>
      <p:sp>
        <p:nvSpPr>
          <p:cNvPr id="15" name="Text 13"/>
          <p:cNvSpPr/>
          <p:nvPr/>
        </p:nvSpPr>
        <p:spPr>
          <a:xfrm>
            <a:off x="8503920" y="1600200"/>
            <a:ext cx="3017520" cy="640080"/>
          </a:xfrm>
          <a:prstGeom prst="rect">
            <a:avLst/>
          </a:prstGeom>
          <a:noFill/>
          <a:ln/>
        </p:spPr>
        <p:txBody>
          <a:bodyPr wrap="square"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-5,187%</a:t>
            </a:r>
            <a:endParaRPr lang="en-US" sz="2600" dirty="0"/>
          </a:p>
        </p:txBody>
      </p:sp>
      <p:sp>
        <p:nvSpPr>
          <p:cNvPr id="16" name="Text 14"/>
          <p:cNvSpPr/>
          <p:nvPr/>
        </p:nvSpPr>
        <p:spPr>
          <a:xfrm>
            <a:off x="8503920" y="2240280"/>
            <a:ext cx="3017520" cy="594360"/>
          </a:xfrm>
          <a:prstGeom prst="rect">
            <a:avLst/>
          </a:prstGeom>
          <a:noFill/>
          <a:ln/>
        </p:spPr>
        <p:txBody>
          <a:bodyPr wrap="square" rtlCol="0" anchor="ctr"/>
          <a:lstStyle/>
          <a:p>
            <a:pPr indent="0" marL="0">
              <a:buNone/>
            </a:pPr>
            <a:r>
              <a:rPr lang="en-US" sz="1100" dirty="0">
                <a:solidFill>
                  <a:srgbClr val="44515C"/>
                </a:solidFill>
                <a:latin typeface="Calibri" pitchFamily="34" charset="0"/>
                <a:ea typeface="Calibri" pitchFamily="34" charset="-122"/>
                <a:cs typeface="Calibri" pitchFamily="34" charset="-120"/>
              </a:rPr>
              <a:t>Margen Promedio (anomalía)</a:t>
            </a:r>
            <a:endParaRPr lang="en-US" sz="1100" dirty="0"/>
          </a:p>
        </p:txBody>
      </p:sp>
      <p:sp>
        <p:nvSpPr>
          <p:cNvPr id="17" name="Text 15"/>
          <p:cNvSpPr/>
          <p:nvPr/>
        </p:nvSpPr>
        <p:spPr>
          <a:xfrm>
            <a:off x="640080" y="3246120"/>
            <a:ext cx="5486400" cy="320040"/>
          </a:xfrm>
          <a:prstGeom prst="rect">
            <a:avLst/>
          </a:prstGeom>
          <a:noFill/>
          <a:ln/>
        </p:spPr>
        <p:txBody>
          <a:bodyPr wrap="square"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Venta Neta y Kilos Totales por mes</a:t>
            </a:r>
            <a:endParaRPr lang="en-US" sz="1250" dirty="0"/>
          </a:p>
        </p:txBody>
      </p:sp>
      <p:graphicFrame>
        <p:nvGraphicFramePr>
          <p:cNvPr id="18" name="Chart 0" descr=""/>
          <p:cNvGraphicFramePr/>
          <p:nvPr/>
        </p:nvGraphicFramePr>
        <p:xfrm>
          <a:off x="548640" y="3611880"/>
          <a:ext cx="5486400" cy="288036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6309360" y="3246120"/>
            <a:ext cx="5486400" cy="320040"/>
          </a:xfrm>
          <a:prstGeom prst="rect">
            <a:avLst/>
          </a:prstGeom>
          <a:noFill/>
          <a:ln/>
        </p:spPr>
        <p:txBody>
          <a:bodyPr wrap="square"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Kilos totales por marca (Top 8)</a:t>
            </a:r>
            <a:endParaRPr lang="en-US" sz="1250" dirty="0"/>
          </a:p>
        </p:txBody>
      </p:sp>
      <p:graphicFrame>
        <p:nvGraphicFramePr>
          <p:cNvPr id="20" name="Chart 1" descr=""/>
          <p:cNvGraphicFramePr/>
          <p:nvPr/>
        </p:nvGraphicFramePr>
        <p:xfrm>
          <a:off x="6217920" y="3611880"/>
          <a:ext cx="5394960" cy="28803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545"/>
          </a:solidFill>
          <a:ln/>
        </p:spPr>
      </p:sp>
      <p:sp>
        <p:nvSpPr>
          <p:cNvPr id="3" name="Text 1"/>
          <p:cNvSpPr/>
          <p:nvPr/>
        </p:nvSpPr>
        <p:spPr>
          <a:xfrm>
            <a:off x="640080" y="164592"/>
            <a:ext cx="2743200" cy="320040"/>
          </a:xfrm>
          <a:prstGeom prst="rect">
            <a:avLst/>
          </a:prstGeom>
          <a:noFill/>
          <a:ln/>
        </p:spPr>
        <p:txBody>
          <a:bodyPr wrap="square" rtlCol="0" anchor="ctr"/>
          <a:lstStyle/>
          <a:p>
            <a:pPr indent="0" marL="0">
              <a:buNone/>
            </a:pPr>
            <a:r>
              <a:rPr lang="en-US" sz="1200" b="1" spc="200" kern="0" dirty="0">
                <a:solidFill>
                  <a:srgbClr val="5FCFC0"/>
                </a:solidFill>
                <a:latin typeface="Calibri" pitchFamily="34" charset="0"/>
                <a:ea typeface="Calibri" pitchFamily="34" charset="-122"/>
                <a:cs typeface="Calibri" pitchFamily="34" charset="-120"/>
              </a:rPr>
              <a:t>PARTE 03</a:t>
            </a:r>
            <a:endParaRPr lang="en-US" sz="1200" dirty="0"/>
          </a:p>
        </p:txBody>
      </p:sp>
      <p:sp>
        <p:nvSpPr>
          <p:cNvPr id="4" name="Text 2"/>
          <p:cNvSpPr/>
          <p:nvPr/>
        </p:nvSpPr>
        <p:spPr>
          <a:xfrm>
            <a:off x="640080" y="457200"/>
            <a:ext cx="8229600" cy="502920"/>
          </a:xfrm>
          <a:prstGeom prst="rect">
            <a:avLst/>
          </a:prstGeom>
          <a:noFill/>
          <a:ln/>
        </p:spPr>
        <p:txBody>
          <a:bodyPr wrap="square" rtlCol="0" anchor="ctr"/>
          <a:lstStyle/>
          <a:p>
            <a:pPr indent="0" marL="0">
              <a:buNone/>
            </a:pPr>
            <a:r>
              <a:rPr lang="en-US" sz="2400" b="1" dirty="0">
                <a:solidFill>
                  <a:srgbClr val="F4F6F8"/>
                </a:solidFill>
                <a:latin typeface="Calibri" pitchFamily="34" charset="0"/>
                <a:ea typeface="Calibri" pitchFamily="34" charset="-122"/>
                <a:cs typeface="Calibri" pitchFamily="34" charset="-120"/>
              </a:rPr>
              <a:t>Modelo Predictivo — Metodología</a:t>
            </a:r>
            <a:endParaRPr lang="en-US" sz="2400" dirty="0"/>
          </a:p>
        </p:txBody>
      </p:sp>
      <p:sp>
        <p:nvSpPr>
          <p:cNvPr id="5" name="Shape 3"/>
          <p:cNvSpPr/>
          <p:nvPr/>
        </p:nvSpPr>
        <p:spPr>
          <a:xfrm>
            <a:off x="640080" y="1371600"/>
            <a:ext cx="2606040" cy="2103120"/>
          </a:xfrm>
          <a:prstGeom prst="rect">
            <a:avLst/>
          </a:prstGeom>
          <a:solidFill>
            <a:srgbClr val="F4F7F8"/>
          </a:solidFill>
          <a:ln/>
        </p:spPr>
      </p:sp>
      <p:sp>
        <p:nvSpPr>
          <p:cNvPr id="6" name="Shape 4"/>
          <p:cNvSpPr/>
          <p:nvPr/>
        </p:nvSpPr>
        <p:spPr>
          <a:xfrm>
            <a:off x="640080" y="1371600"/>
            <a:ext cx="2606040" cy="457200"/>
          </a:xfrm>
          <a:prstGeom prst="rect">
            <a:avLst/>
          </a:prstGeom>
          <a:solidFill>
            <a:srgbClr val="0F9B8E"/>
          </a:solidFill>
          <a:ln/>
        </p:spPr>
      </p:sp>
      <p:sp>
        <p:nvSpPr>
          <p:cNvPr id="7" name="Text 5"/>
          <p:cNvSpPr/>
          <p:nvPr/>
        </p:nvSpPr>
        <p:spPr>
          <a:xfrm>
            <a:off x="777240" y="1371600"/>
            <a:ext cx="23317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Agregación</a:t>
            </a:r>
            <a:endParaRPr lang="en-US" sz="1250" dirty="0"/>
          </a:p>
        </p:txBody>
      </p:sp>
      <p:sp>
        <p:nvSpPr>
          <p:cNvPr id="8" name="Text 6"/>
          <p:cNvSpPr/>
          <p:nvPr/>
        </p:nvSpPr>
        <p:spPr>
          <a:xfrm>
            <a:off x="777240" y="1965960"/>
            <a:ext cx="2331720" cy="1417320"/>
          </a:xfrm>
          <a:prstGeom prst="rect">
            <a:avLst/>
          </a:prstGeom>
          <a:noFill/>
          <a:ln/>
        </p:spPr>
        <p:txBody>
          <a:bodyPr wrap="square" rtlCol="0" anchor="t"/>
          <a:lstStyle/>
          <a:p>
            <a:pPr indent="0" marL="0">
              <a:buNone/>
            </a:pPr>
            <a:r>
              <a:rPr lang="en-US" sz="1050" dirty="0">
                <a:solidFill>
                  <a:srgbClr val="44515C"/>
                </a:solidFill>
                <a:latin typeface="Calibri" pitchFamily="34" charset="0"/>
                <a:ea typeface="Calibri" pitchFamily="34" charset="-122"/>
                <a:cs typeface="Calibri" pitchFamily="34" charset="-120"/>
              </a:rPr>
              <a:t>Serie semanal de qty_kilos</a:t>
            </a:r>
            <a:endParaRPr lang="en-US" sz="1050" dirty="0"/>
          </a:p>
          <a:p>
            <a:pPr indent="0" marL="0">
              <a:buNone/>
            </a:pPr>
            <a:r>
              <a:rPr lang="en-US" sz="1050" dirty="0">
                <a:solidFill>
                  <a:srgbClr val="44515C"/>
                </a:solidFill>
                <a:latin typeface="Calibri" pitchFamily="34" charset="0"/>
                <a:ea typeface="Calibri" pitchFamily="34" charset="-122"/>
                <a:cs typeface="Calibri" pitchFamily="34" charset="-120"/>
              </a:rPr>
              <a:t>(32 semanas, ene–ago 2026)</a:t>
            </a:r>
            <a:endParaRPr lang="en-US" sz="1050" dirty="0"/>
          </a:p>
        </p:txBody>
      </p:sp>
      <p:sp>
        <p:nvSpPr>
          <p:cNvPr id="9" name="Shape 7"/>
          <p:cNvSpPr/>
          <p:nvPr/>
        </p:nvSpPr>
        <p:spPr>
          <a:xfrm>
            <a:off x="3401568" y="1371600"/>
            <a:ext cx="2606040" cy="2103120"/>
          </a:xfrm>
          <a:prstGeom prst="rect">
            <a:avLst/>
          </a:prstGeom>
          <a:solidFill>
            <a:srgbClr val="F4F7F8"/>
          </a:solidFill>
          <a:ln/>
        </p:spPr>
      </p:sp>
      <p:sp>
        <p:nvSpPr>
          <p:cNvPr id="10" name="Shape 8"/>
          <p:cNvSpPr/>
          <p:nvPr/>
        </p:nvSpPr>
        <p:spPr>
          <a:xfrm>
            <a:off x="3401568" y="1371600"/>
            <a:ext cx="2606040" cy="457200"/>
          </a:xfrm>
          <a:prstGeom prst="rect">
            <a:avLst/>
          </a:prstGeom>
          <a:solidFill>
            <a:srgbClr val="0F9B8E"/>
          </a:solidFill>
          <a:ln/>
        </p:spPr>
      </p:sp>
      <p:sp>
        <p:nvSpPr>
          <p:cNvPr id="11" name="Text 9"/>
          <p:cNvSpPr/>
          <p:nvPr/>
        </p:nvSpPr>
        <p:spPr>
          <a:xfrm>
            <a:off x="3538728" y="1371600"/>
            <a:ext cx="23317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Features</a:t>
            </a:r>
            <a:endParaRPr lang="en-US" sz="1250" dirty="0"/>
          </a:p>
        </p:txBody>
      </p:sp>
      <p:sp>
        <p:nvSpPr>
          <p:cNvPr id="12" name="Text 10"/>
          <p:cNvSpPr/>
          <p:nvPr/>
        </p:nvSpPr>
        <p:spPr>
          <a:xfrm>
            <a:off x="3538728" y="1965960"/>
            <a:ext cx="2331720" cy="1417320"/>
          </a:xfrm>
          <a:prstGeom prst="rect">
            <a:avLst/>
          </a:prstGeom>
          <a:noFill/>
          <a:ln/>
        </p:spPr>
        <p:txBody>
          <a:bodyPr wrap="square" rtlCol="0" anchor="t"/>
          <a:lstStyle/>
          <a:p>
            <a:pPr indent="0" marL="0">
              <a:buNone/>
            </a:pPr>
            <a:r>
              <a:rPr lang="en-US" sz="1050" dirty="0">
                <a:solidFill>
                  <a:srgbClr val="44515C"/>
                </a:solidFill>
                <a:latin typeface="Calibri" pitchFamily="34" charset="0"/>
                <a:ea typeface="Calibri" pitchFamily="34" charset="-122"/>
                <a:cs typeface="Calibri" pitchFamily="34" charset="-120"/>
              </a:rPr>
              <a:t>Lags (t-1, t-2), media móvil</a:t>
            </a:r>
            <a:endParaRPr lang="en-US" sz="1050" dirty="0"/>
          </a:p>
          <a:p>
            <a:pPr indent="0" marL="0">
              <a:buNone/>
            </a:pPr>
            <a:r>
              <a:rPr lang="en-US" sz="1050" dirty="0">
                <a:solidFill>
                  <a:srgbClr val="44515C"/>
                </a:solidFill>
                <a:latin typeface="Calibri" pitchFamily="34" charset="0"/>
                <a:ea typeface="Calibri" pitchFamily="34" charset="-122"/>
                <a:cs typeface="Calibri" pitchFamily="34" charset="-120"/>
              </a:rPr>
              <a:t>de 3 semanas, semana del año</a:t>
            </a:r>
            <a:endParaRPr lang="en-US" sz="1050" dirty="0"/>
          </a:p>
        </p:txBody>
      </p:sp>
      <p:sp>
        <p:nvSpPr>
          <p:cNvPr id="13" name="Shape 11"/>
          <p:cNvSpPr/>
          <p:nvPr/>
        </p:nvSpPr>
        <p:spPr>
          <a:xfrm>
            <a:off x="6163056" y="1371600"/>
            <a:ext cx="2606040" cy="2103120"/>
          </a:xfrm>
          <a:prstGeom prst="rect">
            <a:avLst/>
          </a:prstGeom>
          <a:solidFill>
            <a:srgbClr val="F4F7F8"/>
          </a:solidFill>
          <a:ln/>
        </p:spPr>
      </p:sp>
      <p:sp>
        <p:nvSpPr>
          <p:cNvPr id="14" name="Shape 12"/>
          <p:cNvSpPr/>
          <p:nvPr/>
        </p:nvSpPr>
        <p:spPr>
          <a:xfrm>
            <a:off x="6163056" y="1371600"/>
            <a:ext cx="2606040" cy="457200"/>
          </a:xfrm>
          <a:prstGeom prst="rect">
            <a:avLst/>
          </a:prstGeom>
          <a:solidFill>
            <a:srgbClr val="0F9B8E"/>
          </a:solidFill>
          <a:ln/>
        </p:spPr>
      </p:sp>
      <p:sp>
        <p:nvSpPr>
          <p:cNvPr id="15" name="Text 13"/>
          <p:cNvSpPr/>
          <p:nvPr/>
        </p:nvSpPr>
        <p:spPr>
          <a:xfrm>
            <a:off x="6300216" y="1371600"/>
            <a:ext cx="23317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3. Split temporal</a:t>
            </a:r>
            <a:endParaRPr lang="en-US" sz="1250" dirty="0"/>
          </a:p>
        </p:txBody>
      </p:sp>
      <p:sp>
        <p:nvSpPr>
          <p:cNvPr id="16" name="Text 14"/>
          <p:cNvSpPr/>
          <p:nvPr/>
        </p:nvSpPr>
        <p:spPr>
          <a:xfrm>
            <a:off x="6300216" y="1965960"/>
            <a:ext cx="2331720" cy="1417320"/>
          </a:xfrm>
          <a:prstGeom prst="rect">
            <a:avLst/>
          </a:prstGeom>
          <a:noFill/>
          <a:ln/>
        </p:spPr>
        <p:txBody>
          <a:bodyPr wrap="square" rtlCol="0" anchor="t"/>
          <a:lstStyle/>
          <a:p>
            <a:pPr indent="0" marL="0">
              <a:buNone/>
            </a:pPr>
            <a:r>
              <a:rPr lang="en-US" sz="1050" dirty="0">
                <a:solidFill>
                  <a:srgbClr val="44515C"/>
                </a:solidFill>
                <a:latin typeface="Calibri" pitchFamily="34" charset="0"/>
                <a:ea typeface="Calibri" pitchFamily="34" charset="-122"/>
                <a:cs typeface="Calibri" pitchFamily="34" charset="-120"/>
              </a:rPr>
              <a:t>23 semanas train / 6 test</a:t>
            </a:r>
            <a:endParaRPr lang="en-US" sz="1050" dirty="0"/>
          </a:p>
          <a:p>
            <a:pPr indent="0" marL="0">
              <a:buNone/>
            </a:pPr>
            <a:r>
              <a:rPr lang="en-US" sz="1050" dirty="0">
                <a:solidFill>
                  <a:srgbClr val="44515C"/>
                </a:solidFill>
                <a:latin typeface="Calibri" pitchFamily="34" charset="0"/>
                <a:ea typeface="Calibri" pitchFamily="34" charset="-122"/>
                <a:cs typeface="Calibri" pitchFamily="34" charset="-120"/>
              </a:rPr>
              <a:t>(nunca aleatorio en series de tiempo)</a:t>
            </a:r>
            <a:endParaRPr lang="en-US" sz="1050" dirty="0"/>
          </a:p>
        </p:txBody>
      </p:sp>
      <p:sp>
        <p:nvSpPr>
          <p:cNvPr id="17" name="Shape 15"/>
          <p:cNvSpPr/>
          <p:nvPr/>
        </p:nvSpPr>
        <p:spPr>
          <a:xfrm>
            <a:off x="8924544" y="1371600"/>
            <a:ext cx="2606040" cy="2103120"/>
          </a:xfrm>
          <a:prstGeom prst="rect">
            <a:avLst/>
          </a:prstGeom>
          <a:solidFill>
            <a:srgbClr val="F4F7F8"/>
          </a:solidFill>
          <a:ln/>
        </p:spPr>
      </p:sp>
      <p:sp>
        <p:nvSpPr>
          <p:cNvPr id="18" name="Shape 16"/>
          <p:cNvSpPr/>
          <p:nvPr/>
        </p:nvSpPr>
        <p:spPr>
          <a:xfrm>
            <a:off x="8924544" y="1371600"/>
            <a:ext cx="2606040" cy="457200"/>
          </a:xfrm>
          <a:prstGeom prst="rect">
            <a:avLst/>
          </a:prstGeom>
          <a:solidFill>
            <a:srgbClr val="0F9B8E"/>
          </a:solidFill>
          <a:ln/>
        </p:spPr>
      </p:sp>
      <p:sp>
        <p:nvSpPr>
          <p:cNvPr id="19" name="Text 17"/>
          <p:cNvSpPr/>
          <p:nvPr/>
        </p:nvSpPr>
        <p:spPr>
          <a:xfrm>
            <a:off x="9061704" y="1371600"/>
            <a:ext cx="2331720"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4. Modelos</a:t>
            </a:r>
            <a:endParaRPr lang="en-US" sz="1250" dirty="0"/>
          </a:p>
        </p:txBody>
      </p:sp>
      <p:sp>
        <p:nvSpPr>
          <p:cNvPr id="20" name="Text 18"/>
          <p:cNvSpPr/>
          <p:nvPr/>
        </p:nvSpPr>
        <p:spPr>
          <a:xfrm>
            <a:off x="9061704" y="1965960"/>
            <a:ext cx="2331720" cy="1417320"/>
          </a:xfrm>
          <a:prstGeom prst="rect">
            <a:avLst/>
          </a:prstGeom>
          <a:noFill/>
          <a:ln/>
        </p:spPr>
        <p:txBody>
          <a:bodyPr wrap="square" rtlCol="0" anchor="t"/>
          <a:lstStyle/>
          <a:p>
            <a:pPr indent="0" marL="0">
              <a:buNone/>
            </a:pPr>
            <a:r>
              <a:rPr lang="en-US" sz="1050" dirty="0">
                <a:solidFill>
                  <a:srgbClr val="44515C"/>
                </a:solidFill>
                <a:latin typeface="Calibri" pitchFamily="34" charset="0"/>
                <a:ea typeface="Calibri" pitchFamily="34" charset="-122"/>
                <a:cs typeface="Calibri" pitchFamily="34" charset="-120"/>
              </a:rPr>
              <a:t>Regresión Lineal (baseline)</a:t>
            </a:r>
            <a:endParaRPr lang="en-US" sz="1050" dirty="0"/>
          </a:p>
          <a:p>
            <a:pPr indent="0" marL="0">
              <a:buNone/>
            </a:pPr>
            <a:r>
              <a:rPr lang="en-US" sz="1050" dirty="0">
                <a:solidFill>
                  <a:srgbClr val="44515C"/>
                </a:solidFill>
                <a:latin typeface="Calibri" pitchFamily="34" charset="0"/>
                <a:ea typeface="Calibri" pitchFamily="34" charset="-122"/>
                <a:cs typeface="Calibri" pitchFamily="34" charset="-120"/>
              </a:rPr>
              <a:t>vs. Random Forest</a:t>
            </a:r>
            <a:endParaRPr lang="en-US" sz="1050" dirty="0"/>
          </a:p>
        </p:txBody>
      </p:sp>
      <p:sp>
        <p:nvSpPr>
          <p:cNvPr id="21" name="Text 19"/>
          <p:cNvSpPr/>
          <p:nvPr/>
        </p:nvSpPr>
        <p:spPr>
          <a:xfrm>
            <a:off x="640080" y="3749040"/>
            <a:ext cx="548640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Por qué NO se usó split aleatorio</a:t>
            </a:r>
            <a:endParaRPr lang="en-US" sz="1300" dirty="0"/>
          </a:p>
        </p:txBody>
      </p:sp>
      <p:sp>
        <p:nvSpPr>
          <p:cNvPr id="22" name="Text 20"/>
          <p:cNvSpPr/>
          <p:nvPr/>
        </p:nvSpPr>
        <p:spPr>
          <a:xfrm>
            <a:off x="640080" y="4114800"/>
            <a:ext cx="10881360" cy="914400"/>
          </a:xfrm>
          <a:prstGeom prst="rect">
            <a:avLst/>
          </a:prstGeom>
          <a:noFill/>
          <a:ln/>
        </p:spPr>
        <p:txBody>
          <a:bodyPr wrap="square" rtlCol="0" anchor="ctr"/>
          <a:lstStyle/>
          <a:p>
            <a:pPr indent="0" marL="0">
              <a:lnSpc>
                <a:spcPct val="130000"/>
              </a:lnSpc>
              <a:buNone/>
            </a:pPr>
            <a:r>
              <a:rPr lang="en-US" sz="1200" dirty="0">
                <a:solidFill>
                  <a:srgbClr val="44515C"/>
                </a:solidFill>
                <a:latin typeface="Calibri" pitchFamily="34" charset="0"/>
                <a:ea typeface="Calibri" pitchFamily="34" charset="-122"/>
                <a:cs typeface="Calibri" pitchFamily="34" charset="-120"/>
              </a:rPr>
              <a:t>Un split aleatorio dejaría que el modelo 'vea' semanas futuras durante el entrenamiento (fuga de datos), inflando artificialmente su desempeño. En series de tiempo, el conjunto de prueba siempre debe ser posterior en el tiempo al de entrenamiento.</a:t>
            </a:r>
            <a:endParaRPr lang="en-US" sz="1200" dirty="0"/>
          </a:p>
        </p:txBody>
      </p:sp>
      <p:sp>
        <p:nvSpPr>
          <p:cNvPr id="23" name="Text 21"/>
          <p:cNvSpPr/>
          <p:nvPr/>
        </p:nvSpPr>
        <p:spPr>
          <a:xfrm>
            <a:off x="640080" y="5166360"/>
            <a:ext cx="5486400" cy="32004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Ciclo MLOps propuesto</a:t>
            </a:r>
            <a:endParaRPr lang="en-US" sz="1300" dirty="0"/>
          </a:p>
        </p:txBody>
      </p:sp>
      <p:sp>
        <p:nvSpPr>
          <p:cNvPr id="24" name="Shape 22"/>
          <p:cNvSpPr/>
          <p:nvPr/>
        </p:nvSpPr>
        <p:spPr>
          <a:xfrm>
            <a:off x="640080" y="5532120"/>
            <a:ext cx="3520440" cy="594360"/>
          </a:xfrm>
          <a:prstGeom prst="rect">
            <a:avLst/>
          </a:prstGeom>
          <a:solidFill>
            <a:srgbClr val="0B2545"/>
          </a:solidFill>
          <a:ln/>
        </p:spPr>
      </p:sp>
      <p:sp>
        <p:nvSpPr>
          <p:cNvPr id="25" name="Text 23"/>
          <p:cNvSpPr/>
          <p:nvPr/>
        </p:nvSpPr>
        <p:spPr>
          <a:xfrm>
            <a:off x="777240" y="5532120"/>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Versionado: Git + MLflow</a:t>
            </a:r>
            <a:endParaRPr lang="en-US" sz="1050" dirty="0"/>
          </a:p>
        </p:txBody>
      </p:sp>
      <p:sp>
        <p:nvSpPr>
          <p:cNvPr id="26" name="Shape 24"/>
          <p:cNvSpPr/>
          <p:nvPr/>
        </p:nvSpPr>
        <p:spPr>
          <a:xfrm>
            <a:off x="4315968" y="5532120"/>
            <a:ext cx="3520440" cy="594360"/>
          </a:xfrm>
          <a:prstGeom prst="rect">
            <a:avLst/>
          </a:prstGeom>
          <a:solidFill>
            <a:srgbClr val="0B2545"/>
          </a:solidFill>
          <a:ln/>
        </p:spPr>
      </p:sp>
      <p:sp>
        <p:nvSpPr>
          <p:cNvPr id="27" name="Text 25"/>
          <p:cNvSpPr/>
          <p:nvPr/>
        </p:nvSpPr>
        <p:spPr>
          <a:xfrm>
            <a:off x="4453128" y="5532120"/>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Monitoreo: alerta si el MAE se degrada</a:t>
            </a:r>
            <a:endParaRPr lang="en-US" sz="1050" dirty="0"/>
          </a:p>
        </p:txBody>
      </p:sp>
      <p:sp>
        <p:nvSpPr>
          <p:cNvPr id="28" name="Shape 26"/>
          <p:cNvSpPr/>
          <p:nvPr/>
        </p:nvSpPr>
        <p:spPr>
          <a:xfrm>
            <a:off x="7991856" y="5532120"/>
            <a:ext cx="3520440" cy="594360"/>
          </a:xfrm>
          <a:prstGeom prst="rect">
            <a:avLst/>
          </a:prstGeom>
          <a:solidFill>
            <a:srgbClr val="0B2545"/>
          </a:solidFill>
          <a:ln/>
        </p:spPr>
      </p:sp>
      <p:sp>
        <p:nvSpPr>
          <p:cNvPr id="29" name="Text 27"/>
          <p:cNvSpPr/>
          <p:nvPr/>
        </p:nvSpPr>
        <p:spPr>
          <a:xfrm>
            <a:off x="8129016" y="5532120"/>
            <a:ext cx="3246120" cy="59436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Reentrenamiento: mensual, automatizado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Resultados del modelo</a:t>
            </a:r>
            <a:endParaRPr lang="en-US" sz="2400" dirty="0"/>
          </a:p>
        </p:txBody>
      </p:sp>
      <p:graphicFrame>
        <p:nvGraphicFramePr>
          <p:cNvPr id="3" name="Chart 0" descr=""/>
          <p:cNvGraphicFramePr/>
          <p:nvPr/>
        </p:nvGraphicFramePr>
        <p:xfrm>
          <a:off x="548640" y="118872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172200" y="1188720"/>
            <a:ext cx="5394960" cy="3291840"/>
          </a:xfrm>
          <a:prstGeom prst="rect">
            <a:avLst/>
          </a:prstGeom>
          <a:solidFill>
            <a:srgbClr val="F4F7F8"/>
          </a:solidFill>
          <a:ln/>
        </p:spPr>
      </p:sp>
      <p:sp>
        <p:nvSpPr>
          <p:cNvPr id="5" name="Text 2"/>
          <p:cNvSpPr/>
          <p:nvPr/>
        </p:nvSpPr>
        <p:spPr>
          <a:xfrm>
            <a:off x="6400800" y="1371600"/>
            <a:ext cx="4937760" cy="36576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Lectura de resultados</a:t>
            </a:r>
            <a:endParaRPr lang="en-US" sz="1300" dirty="0"/>
          </a:p>
        </p:txBody>
      </p:sp>
      <p:sp>
        <p:nvSpPr>
          <p:cNvPr id="6" name="Text 3"/>
          <p:cNvSpPr/>
          <p:nvPr/>
        </p:nvSpPr>
        <p:spPr>
          <a:xfrm>
            <a:off x="6400800" y="1828800"/>
            <a:ext cx="4937760" cy="2468880"/>
          </a:xfrm>
          <a:prstGeom prst="rect">
            <a:avLst/>
          </a:prstGeom>
          <a:noFill/>
          <a:ln/>
        </p:spPr>
        <p:txBody>
          <a:bodyPr wrap="square" rtlCol="0" anchor="t"/>
          <a:lstStyle/>
          <a:p>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La Regresión Lineal superó a Random Forest </a:t>
            </a:r>
            <a:pPr indent="0" marL="0">
              <a:lnSpc>
                <a:spcPct val="130000"/>
              </a:lnSpc>
              <a:buNone/>
            </a:pPr>
            <a:r>
              <a:rPr lang="en-US" sz="1150" dirty="0">
                <a:solidFill>
                  <a:srgbClr val="44515C"/>
                </a:solidFill>
                <a:latin typeface="Calibri" pitchFamily="34" charset="0"/>
                <a:ea typeface="Calibri" pitchFamily="34" charset="-122"/>
                <a:cs typeface="Calibri" pitchFamily="34" charset="-120"/>
              </a:rPr>
              <a:t>(MAE 479 kg vs. 744 kg). Con solo 23 semanas de entrenamiento, un modelo simple generaliza mejor que uno más complejo, que tiende a sobreajustar con pocos datos.
</a:t>
            </a:r>
            <a:pPr indent="0" marL="0">
              <a:lnSpc>
                <a:spcPct val="130000"/>
              </a:lnSpc>
              <a:buNone/>
            </a:pPr>
            <a:r>
              <a:rPr lang="en-US" sz="1150" b="1" dirty="0">
                <a:solidFill>
                  <a:srgbClr val="0B2545"/>
                </a:solidFill>
                <a:latin typeface="Calibri" pitchFamily="34" charset="0"/>
                <a:ea typeface="Calibri" pitchFamily="34" charset="-122"/>
                <a:cs typeface="Calibri" pitchFamily="34" charset="-120"/>
              </a:rPr>
              <a:t>No se buscó el mejor accuracy posible</a:t>
            </a:r>
            <a:pPr indent="0" marL="0">
              <a:lnSpc>
                <a:spcPct val="130000"/>
              </a:lnSpc>
              <a:buNone/>
            </a:pPr>
            <a:r>
              <a:rPr lang="en-US" sz="1150" dirty="0">
                <a:solidFill>
                  <a:srgbClr val="44515C"/>
                </a:solidFill>
                <a:latin typeface="Calibri" pitchFamily="34" charset="0"/>
                <a:ea typeface="Calibri" pitchFamily="34" charset="-122"/>
                <a:cs typeface="Calibri" pitchFamily="34" charset="-120"/>
              </a:rPr>
              <a:t>, sino demostrar una metodología correcta: features sin fuga de datos, split temporal, y comparación objetiva vía MAE/RMSE.</a:t>
            </a:r>
            <a:endParaRPr lang="en-US" sz="1150" dirty="0"/>
          </a:p>
        </p:txBody>
      </p:sp>
      <p:sp>
        <p:nvSpPr>
          <p:cNvPr id="7" name="Shape 4"/>
          <p:cNvSpPr/>
          <p:nvPr/>
        </p:nvSpPr>
        <p:spPr>
          <a:xfrm>
            <a:off x="548640" y="4709160"/>
            <a:ext cx="11018520" cy="1600200"/>
          </a:xfrm>
          <a:prstGeom prst="rect">
            <a:avLst/>
          </a:prstGeom>
          <a:solidFill>
            <a:srgbClr val="0B2545"/>
          </a:solidFill>
          <a:ln/>
        </p:spPr>
      </p:sp>
      <p:sp>
        <p:nvSpPr>
          <p:cNvPr id="8" name="Text 5"/>
          <p:cNvSpPr/>
          <p:nvPr/>
        </p:nvSpPr>
        <p:spPr>
          <a:xfrm>
            <a:off x="822960" y="4892040"/>
            <a:ext cx="7315200" cy="365760"/>
          </a:xfrm>
          <a:prstGeom prst="rect">
            <a:avLst/>
          </a:prstGeom>
          <a:noFill/>
          <a:ln/>
        </p:spPr>
        <p:txBody>
          <a:bodyPr wrap="square" rtlCol="0" anchor="ctr"/>
          <a:lstStyle/>
          <a:p>
            <a:pPr indent="0" marL="0">
              <a:buNone/>
            </a:pPr>
            <a:r>
              <a:rPr lang="en-US" sz="1300" b="1" dirty="0">
                <a:solidFill>
                  <a:srgbClr val="5FCFC0"/>
                </a:solidFill>
                <a:latin typeface="Calibri" pitchFamily="34" charset="0"/>
                <a:ea typeface="Calibri" pitchFamily="34" charset="-122"/>
                <a:cs typeface="Calibri" pitchFamily="34" charset="-120"/>
              </a:rPr>
              <a:t>Anomalía identificada: semana del 27 de julio</a:t>
            </a:r>
            <a:endParaRPr lang="en-US" sz="1300" dirty="0"/>
          </a:p>
        </p:txBody>
      </p:sp>
      <p:sp>
        <p:nvSpPr>
          <p:cNvPr id="9" name="Text 6"/>
          <p:cNvSpPr/>
          <p:nvPr/>
        </p:nvSpPr>
        <p:spPr>
          <a:xfrm>
            <a:off x="822960" y="5285232"/>
            <a:ext cx="10424160" cy="914400"/>
          </a:xfrm>
          <a:prstGeom prst="rect">
            <a:avLst/>
          </a:prstGeom>
          <a:noFill/>
          <a:ln/>
        </p:spPr>
        <p:txBody>
          <a:bodyPr wrap="square" rtlCol="0" anchor="ctr"/>
          <a:lstStyle/>
          <a:p>
            <a:pPr indent="0" marL="0">
              <a:lnSpc>
                <a:spcPct val="130000"/>
              </a:lnSpc>
              <a:buNone/>
            </a:pPr>
            <a:r>
              <a:rPr lang="en-US" sz="1150" dirty="0">
                <a:solidFill>
                  <a:srgbClr val="DCE6ED"/>
                </a:solidFill>
                <a:latin typeface="Calibri" pitchFamily="34" charset="0"/>
                <a:ea typeface="Calibri" pitchFamily="34" charset="-122"/>
                <a:cs typeface="Calibri" pitchFamily="34" charset="-120"/>
              </a:rPr>
              <a:t>Ambos modelos predijeron ~350–415 kg, pero el valor real fue 2.568 kg. Ningún feature disponible explicaba ese salto (posible promoción o pedido grande de un solo cliente). Es un caso de manual de 'detección de anomalías' más que de error de modelo.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B2545"/>
          </a:solidFill>
          <a:ln/>
        </p:spPr>
      </p:sp>
      <p:sp>
        <p:nvSpPr>
          <p:cNvPr id="3" name="Text 1"/>
          <p:cNvSpPr/>
          <p:nvPr/>
        </p:nvSpPr>
        <p:spPr>
          <a:xfrm>
            <a:off x="640080" y="164592"/>
            <a:ext cx="2743200" cy="320040"/>
          </a:xfrm>
          <a:prstGeom prst="rect">
            <a:avLst/>
          </a:prstGeom>
          <a:noFill/>
          <a:ln/>
        </p:spPr>
        <p:txBody>
          <a:bodyPr wrap="square" rtlCol="0" anchor="ctr"/>
          <a:lstStyle/>
          <a:p>
            <a:pPr indent="0" marL="0">
              <a:buNone/>
            </a:pPr>
            <a:r>
              <a:rPr lang="en-US" sz="1200" b="1" spc="200" kern="0" dirty="0">
                <a:solidFill>
                  <a:srgbClr val="5FCFC0"/>
                </a:solidFill>
                <a:latin typeface="Calibri" pitchFamily="34" charset="0"/>
                <a:ea typeface="Calibri" pitchFamily="34" charset="-122"/>
                <a:cs typeface="Calibri" pitchFamily="34" charset="-120"/>
              </a:rPr>
              <a:t>PARTE 04</a:t>
            </a:r>
            <a:endParaRPr lang="en-US" sz="1200" dirty="0"/>
          </a:p>
        </p:txBody>
      </p:sp>
      <p:sp>
        <p:nvSpPr>
          <p:cNvPr id="4" name="Text 2"/>
          <p:cNvSpPr/>
          <p:nvPr/>
        </p:nvSpPr>
        <p:spPr>
          <a:xfrm>
            <a:off x="640080" y="457200"/>
            <a:ext cx="8229600" cy="502920"/>
          </a:xfrm>
          <a:prstGeom prst="rect">
            <a:avLst/>
          </a:prstGeom>
          <a:noFill/>
          <a:ln/>
        </p:spPr>
        <p:txBody>
          <a:bodyPr wrap="square" rtlCol="0" anchor="ctr"/>
          <a:lstStyle/>
          <a:p>
            <a:pPr indent="0" marL="0">
              <a:buNone/>
            </a:pPr>
            <a:r>
              <a:rPr lang="en-US" sz="2400" b="1" dirty="0">
                <a:solidFill>
                  <a:srgbClr val="F4F6F8"/>
                </a:solidFill>
                <a:latin typeface="Calibri" pitchFamily="34" charset="0"/>
                <a:ea typeface="Calibri" pitchFamily="34" charset="-122"/>
                <a:cs typeface="Calibri" pitchFamily="34" charset="-120"/>
              </a:rPr>
              <a:t>Agente de IA — Texto a SQL</a:t>
            </a:r>
            <a:endParaRPr lang="en-US" sz="2400" dirty="0"/>
          </a:p>
        </p:txBody>
      </p:sp>
      <p:sp>
        <p:nvSpPr>
          <p:cNvPr id="5" name="Shape 3"/>
          <p:cNvSpPr/>
          <p:nvPr/>
        </p:nvSpPr>
        <p:spPr>
          <a:xfrm>
            <a:off x="640080" y="1371600"/>
            <a:ext cx="2514600" cy="1005840"/>
          </a:xfrm>
          <a:prstGeom prst="rect">
            <a:avLst/>
          </a:prstGeom>
          <a:solidFill>
            <a:srgbClr val="0F9B8E"/>
          </a:solidFill>
          <a:ln/>
        </p:spPr>
      </p:sp>
      <p:sp>
        <p:nvSpPr>
          <p:cNvPr id="6" name="Text 4"/>
          <p:cNvSpPr/>
          <p:nvPr/>
        </p:nvSpPr>
        <p:spPr>
          <a:xfrm>
            <a:off x="731520" y="1371600"/>
            <a:ext cx="233172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Pregunta en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lenguaje natural</a:t>
            </a:r>
            <a:endParaRPr lang="en-US" sz="1150" dirty="0"/>
          </a:p>
        </p:txBody>
      </p:sp>
      <p:sp>
        <p:nvSpPr>
          <p:cNvPr id="7" name="Text 5"/>
          <p:cNvSpPr/>
          <p:nvPr/>
        </p:nvSpPr>
        <p:spPr>
          <a:xfrm>
            <a:off x="3172968" y="1371600"/>
            <a:ext cx="320040" cy="1005840"/>
          </a:xfrm>
          <a:prstGeom prst="rect">
            <a:avLst/>
          </a:prstGeom>
          <a:noFill/>
          <a:ln/>
        </p:spPr>
        <p:txBody>
          <a:bodyPr wrap="square" rtlCol="0" anchor="ctr"/>
          <a:lstStyle/>
          <a:p>
            <a:pPr algn="ctr" indent="0" marL="0">
              <a:buNone/>
            </a:pPr>
            <a:r>
              <a:rPr lang="en-US" sz="2000" dirty="0">
                <a:solidFill>
                  <a:srgbClr val="44515C"/>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3520440" y="1371600"/>
            <a:ext cx="2514600" cy="1005840"/>
          </a:xfrm>
          <a:prstGeom prst="rect">
            <a:avLst/>
          </a:prstGeom>
          <a:solidFill>
            <a:srgbClr val="0B2545"/>
          </a:solidFill>
          <a:ln/>
        </p:spPr>
      </p:sp>
      <p:sp>
        <p:nvSpPr>
          <p:cNvPr id="9" name="Text 7"/>
          <p:cNvSpPr/>
          <p:nvPr/>
        </p:nvSpPr>
        <p:spPr>
          <a:xfrm>
            <a:off x="3611880" y="1371600"/>
            <a:ext cx="233172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LangChain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SQL Agent</a:t>
            </a:r>
            <a:endParaRPr lang="en-US" sz="1150" dirty="0"/>
          </a:p>
        </p:txBody>
      </p:sp>
      <p:sp>
        <p:nvSpPr>
          <p:cNvPr id="10" name="Text 8"/>
          <p:cNvSpPr/>
          <p:nvPr/>
        </p:nvSpPr>
        <p:spPr>
          <a:xfrm>
            <a:off x="6053328" y="1371600"/>
            <a:ext cx="320040" cy="1005840"/>
          </a:xfrm>
          <a:prstGeom prst="rect">
            <a:avLst/>
          </a:prstGeom>
          <a:noFill/>
          <a:ln/>
        </p:spPr>
        <p:txBody>
          <a:bodyPr wrap="square" rtlCol="0" anchor="ctr"/>
          <a:lstStyle/>
          <a:p>
            <a:pPr algn="ctr" indent="0" marL="0">
              <a:buNone/>
            </a:pPr>
            <a:r>
              <a:rPr lang="en-US" sz="2000" dirty="0">
                <a:solidFill>
                  <a:srgbClr val="44515C"/>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6400800" y="1371600"/>
            <a:ext cx="2514600" cy="1005840"/>
          </a:xfrm>
          <a:prstGeom prst="rect">
            <a:avLst/>
          </a:prstGeom>
          <a:solidFill>
            <a:srgbClr val="0F9B8E"/>
          </a:solidFill>
          <a:ln/>
        </p:spPr>
      </p:sp>
      <p:sp>
        <p:nvSpPr>
          <p:cNvPr id="12" name="Text 10"/>
          <p:cNvSpPr/>
          <p:nvPr/>
        </p:nvSpPr>
        <p:spPr>
          <a:xfrm>
            <a:off x="6492240" y="1371600"/>
            <a:ext cx="233172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SQLite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(ventas_retail.db)</a:t>
            </a:r>
            <a:endParaRPr lang="en-US" sz="1150" dirty="0"/>
          </a:p>
        </p:txBody>
      </p:sp>
      <p:sp>
        <p:nvSpPr>
          <p:cNvPr id="13" name="Text 11"/>
          <p:cNvSpPr/>
          <p:nvPr/>
        </p:nvSpPr>
        <p:spPr>
          <a:xfrm>
            <a:off x="8933688" y="1371600"/>
            <a:ext cx="320040" cy="1005840"/>
          </a:xfrm>
          <a:prstGeom prst="rect">
            <a:avLst/>
          </a:prstGeom>
          <a:noFill/>
          <a:ln/>
        </p:spPr>
        <p:txBody>
          <a:bodyPr wrap="square" rtlCol="0" anchor="ctr"/>
          <a:lstStyle/>
          <a:p>
            <a:pPr algn="ctr" indent="0" marL="0">
              <a:buNone/>
            </a:pPr>
            <a:r>
              <a:rPr lang="en-US" sz="2000" dirty="0">
                <a:solidFill>
                  <a:srgbClr val="44515C"/>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9281160" y="1371600"/>
            <a:ext cx="2514600" cy="1005840"/>
          </a:xfrm>
          <a:prstGeom prst="rect">
            <a:avLst/>
          </a:prstGeom>
          <a:solidFill>
            <a:srgbClr val="0B2545"/>
          </a:solidFill>
          <a:ln/>
        </p:spPr>
      </p:sp>
      <p:sp>
        <p:nvSpPr>
          <p:cNvPr id="15" name="Text 13"/>
          <p:cNvSpPr/>
          <p:nvPr/>
        </p:nvSpPr>
        <p:spPr>
          <a:xfrm>
            <a:off x="9372600" y="1371600"/>
            <a:ext cx="2331720" cy="100584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Respuesta en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lenguaje natural</a:t>
            </a:r>
            <a:endParaRPr lang="en-US" sz="1150" dirty="0"/>
          </a:p>
        </p:txBody>
      </p:sp>
      <p:sp>
        <p:nvSpPr>
          <p:cNvPr id="16" name="Text 14"/>
          <p:cNvSpPr/>
          <p:nvPr/>
        </p:nvSpPr>
        <p:spPr>
          <a:xfrm>
            <a:off x="640080" y="2743200"/>
            <a:ext cx="731520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Preguntas de prueba y resultados verificados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154680"/>
          <a:ext cx="10881360" cy="1737360"/>
        </p:xfrm>
        <a:graphic>
          <a:graphicData uri="http://schemas.openxmlformats.org/drawingml/2006/table">
            <a:tbl>
              <a:tblPr/>
              <a:tblGrid>
                <a:gridCol w="6400800"/>
                <a:gridCol w="4480560"/>
              </a:tblGrid>
              <a:tr h="4343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Pregunta</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0B25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Respuesta</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solidFill>
                      <a:srgbClr val="0B2545"/>
                    </a:solidFill>
                  </a:tcPr>
                </a:tc>
              </a:tr>
              <a:tr h="434340">
                <a:tc>
                  <a:txBody>
                    <a:bodyPr/>
                    <a:lstStyle/>
                    <a:p>
                      <a:pPr indent="0" marL="0">
                        <a:buNone/>
                      </a:pPr>
                      <a:r>
                        <a:rPr lang="en-US" sz="1150" dirty="0">
                          <a:solidFill>
                            <a:srgbClr val="44515C"/>
                          </a:solidFill>
                          <a:latin typeface="Calibri" pitchFamily="34" charset="0"/>
                          <a:ea typeface="Calibri" pitchFamily="34" charset="-122"/>
                          <a:cs typeface="Calibri" pitchFamily="34" charset="-120"/>
                        </a:rPr>
                        <a:t>¿Ventas netas totales de la marca La Favorita?</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tcPr>
                </a:tc>
                <a:tc>
                  <a:txBody>
                    <a:bodyPr/>
                    <a:lstStyle/>
                    <a:p>
                      <a:pPr indent="0" marL="0">
                        <a:buNone/>
                      </a:pPr>
                      <a:r>
                        <a:rPr lang="en-US" sz="1150" dirty="0">
                          <a:solidFill>
                            <a:srgbClr val="44515C"/>
                          </a:solidFill>
                          <a:latin typeface="Calibri" pitchFamily="34" charset="0"/>
                          <a:ea typeface="Calibri" pitchFamily="34" charset="-122"/>
                          <a:cs typeface="Calibri" pitchFamily="34" charset="-120"/>
                        </a:rPr>
                        <a:t>$284.06</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tcPr>
                </a:tc>
              </a:tr>
              <a:tr h="434340">
                <a:tc>
                  <a:txBody>
                    <a:bodyPr/>
                    <a:lstStyle/>
                    <a:p>
                      <a:pPr indent="0" marL="0">
                        <a:buNone/>
                      </a:pPr>
                      <a:r>
                        <a:rPr lang="en-US" sz="1150" dirty="0">
                          <a:solidFill>
                            <a:srgbClr val="44515C"/>
                          </a:solidFill>
                          <a:latin typeface="Calibri" pitchFamily="34" charset="0"/>
                          <a:ea typeface="Calibri" pitchFamily="34" charset="-122"/>
                          <a:cs typeface="Calibri" pitchFamily="34" charset="-120"/>
                        </a:rPr>
                        <a:t>¿Cliente que más compró en kilos en todo el periodo?</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tcPr>
                </a:tc>
                <a:tc>
                  <a:txBody>
                    <a:bodyPr/>
                    <a:lstStyle/>
                    <a:p>
                      <a:pPr indent="0" marL="0">
                        <a:buNone/>
                      </a:pPr>
                      <a:r>
                        <a:rPr lang="en-US" sz="1150" dirty="0">
                          <a:solidFill>
                            <a:srgbClr val="44515C"/>
                          </a:solidFill>
                          <a:latin typeface="Calibri" pitchFamily="34" charset="0"/>
                          <a:ea typeface="Calibri" pitchFamily="34" charset="-122"/>
                          <a:cs typeface="Calibri" pitchFamily="34" charset="-120"/>
                        </a:rPr>
                        <a:t>Amagua Guasumba Nancy Soledad — 3.057,6 kg</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tcPr>
                </a:tc>
              </a:tr>
              <a:tr h="434340">
                <a:tc>
                  <a:txBody>
                    <a:bodyPr/>
                    <a:lstStyle/>
                    <a:p>
                      <a:pPr indent="0" marL="0">
                        <a:buNone/>
                      </a:pPr>
                      <a:r>
                        <a:rPr lang="en-US" sz="1150" dirty="0">
                          <a:solidFill>
                            <a:srgbClr val="44515C"/>
                          </a:solidFill>
                          <a:latin typeface="Calibri" pitchFamily="34" charset="0"/>
                          <a:ea typeface="Calibri" pitchFamily="34" charset="-122"/>
                          <a:cs typeface="Calibri" pitchFamily="34" charset="-120"/>
                        </a:rPr>
                        <a:t>¿Cuántos kilos se vendieron en julio de 2026?</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tcPr>
                </a:tc>
                <a:tc>
                  <a:txBody>
                    <a:bodyPr/>
                    <a:lstStyle/>
                    <a:p>
                      <a:pPr indent="0" marL="0">
                        <a:buNone/>
                      </a:pPr>
                      <a:r>
                        <a:rPr lang="en-US" sz="1150" dirty="0">
                          <a:solidFill>
                            <a:srgbClr val="44515C"/>
                          </a:solidFill>
                          <a:latin typeface="Calibri" pitchFamily="34" charset="0"/>
                          <a:ea typeface="Calibri" pitchFamily="34" charset="-122"/>
                          <a:cs typeface="Calibri" pitchFamily="34" charset="-120"/>
                        </a:rPr>
                        <a:t>3.490,26 kg</a:t>
                      </a:r>
                      <a:endParaRPr lang="en-US" sz="1150" dirty="0">
                        <a:latin typeface="Calibri" charset="0"/>
                        <a:ea typeface="Calibri" charset="0"/>
                        <a:cs typeface="Calibri" charset="0"/>
                      </a:endParaRPr>
                    </a:p>
                  </a:txBody>
                  <a:tcPr marL="91440" marR="91440" marT="45720" marB="45720">
                    <a:lnL w="9525" cap="flat" cmpd="sng" algn="ctr">
                      <a:solidFill>
                        <a:srgbClr val="E2E8ED"/>
                      </a:solidFill>
                      <a:prstDash val="solid"/>
                      <a:round/>
                      <a:headEnd type="none" w="med" len="med"/>
                      <a:tailEnd type="none" w="med" len="med"/>
                    </a:lnL>
                    <a:lnR w="9525" cap="flat" cmpd="sng" algn="ctr">
                      <a:solidFill>
                        <a:srgbClr val="E2E8ED"/>
                      </a:solidFill>
                      <a:prstDash val="solid"/>
                      <a:round/>
                      <a:headEnd type="none" w="med" len="med"/>
                      <a:tailEnd type="none" w="med" len="med"/>
                    </a:lnR>
                    <a:lnT w="9525" cap="flat" cmpd="sng" algn="ctr">
                      <a:solidFill>
                        <a:srgbClr val="E2E8ED"/>
                      </a:solidFill>
                      <a:prstDash val="solid"/>
                      <a:round/>
                      <a:headEnd type="none" w="med" len="med"/>
                      <a:tailEnd type="none" w="med" len="med"/>
                    </a:lnT>
                    <a:lnB w="9525" cap="flat" cmpd="sng" algn="ctr">
                      <a:solidFill>
                        <a:srgbClr val="E2E8ED"/>
                      </a:solidFill>
                      <a:prstDash val="solid"/>
                      <a:round/>
                      <a:headEnd type="none" w="med" len="med"/>
                      <a:tailEnd type="none" w="med" len="med"/>
                    </a:lnB>
                  </a:tcPr>
                </a:tc>
              </a:tr>
            </a:tbl>
          </a:graphicData>
        </a:graphic>
      </p:graphicFrame>
      <p:sp>
        <p:nvSpPr>
          <p:cNvPr id="18" name="Shape 15"/>
          <p:cNvSpPr/>
          <p:nvPr/>
        </p:nvSpPr>
        <p:spPr>
          <a:xfrm>
            <a:off x="640080" y="5120640"/>
            <a:ext cx="10881360" cy="1188720"/>
          </a:xfrm>
          <a:prstGeom prst="rect">
            <a:avLst/>
          </a:prstGeom>
          <a:solidFill>
            <a:srgbClr val="F4F7F8"/>
          </a:solidFill>
          <a:ln/>
        </p:spPr>
      </p:sp>
      <p:sp>
        <p:nvSpPr>
          <p:cNvPr id="19" name="Text 16"/>
          <p:cNvSpPr/>
          <p:nvPr/>
        </p:nvSpPr>
        <p:spPr>
          <a:xfrm>
            <a:off x="868680" y="5257800"/>
            <a:ext cx="7315200" cy="320040"/>
          </a:xfrm>
          <a:prstGeom prst="rect">
            <a:avLst/>
          </a:prstGeom>
          <a:noFill/>
          <a:ln/>
        </p:spPr>
        <p:txBody>
          <a:bodyPr wrap="square"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Decisión de stack: sustitución de LLM</a:t>
            </a:r>
            <a:endParaRPr lang="en-US" sz="1250" dirty="0"/>
          </a:p>
        </p:txBody>
      </p:sp>
      <p:sp>
        <p:nvSpPr>
          <p:cNvPr id="20" name="Text 17"/>
          <p:cNvSpPr/>
          <p:nvPr/>
        </p:nvSpPr>
        <p:spPr>
          <a:xfrm>
            <a:off x="868680" y="5577840"/>
            <a:ext cx="10424160" cy="685800"/>
          </a:xfrm>
          <a:prstGeom prst="rect">
            <a:avLst/>
          </a:prstGeom>
          <a:noFill/>
          <a:ln/>
        </p:spPr>
        <p:txBody>
          <a:bodyPr wrap="square" rtlCol="0" anchor="ctr"/>
          <a:lstStyle/>
          <a:p>
            <a:pPr indent="0" marL="0">
              <a:lnSpc>
                <a:spcPct val="125000"/>
              </a:lnSpc>
              <a:buNone/>
            </a:pPr>
            <a:r>
              <a:rPr lang="en-US" sz="1050" dirty="0">
                <a:solidFill>
                  <a:srgbClr val="44515C"/>
                </a:solidFill>
                <a:latin typeface="Calibri" pitchFamily="34" charset="0"/>
                <a:ea typeface="Calibri" pitchFamily="34" charset="-122"/>
                <a:cs typeface="Calibri" pitchFamily="34" charset="-120"/>
              </a:rPr>
              <a:t>El enunciado sugiere OpenAI, pero permite cualquier stack equivalente. El agente admite 3 proveedores intercambiables (OpenAI, Claude/Anthropic u Ollama local sin costo) manteniendo LangChain como framework fijo — demostrando que el LLM es una pieza modular, no un bloque rígido de la arquitectura.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548640"/>
          </a:xfrm>
          <a:prstGeom prst="rect">
            <a:avLst/>
          </a:prstGeom>
          <a:noFill/>
          <a:ln/>
        </p:spPr>
        <p:txBody>
          <a:bodyPr wrap="square"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Decisiones clave tomadas</a:t>
            </a:r>
            <a:endParaRPr lang="en-US" sz="2600" dirty="0"/>
          </a:p>
        </p:txBody>
      </p:sp>
      <p:sp>
        <p:nvSpPr>
          <p:cNvPr id="3" name="Shape 1"/>
          <p:cNvSpPr/>
          <p:nvPr/>
        </p:nvSpPr>
        <p:spPr>
          <a:xfrm>
            <a:off x="640080" y="1234440"/>
            <a:ext cx="5257800" cy="1508760"/>
          </a:xfrm>
          <a:prstGeom prst="rect">
            <a:avLst/>
          </a:prstGeom>
          <a:solidFill>
            <a:srgbClr val="F4F7F8"/>
          </a:solidFill>
          <a:ln/>
        </p:spPr>
      </p:sp>
      <p:sp>
        <p:nvSpPr>
          <p:cNvPr id="4" name="Shape 2"/>
          <p:cNvSpPr/>
          <p:nvPr/>
        </p:nvSpPr>
        <p:spPr>
          <a:xfrm>
            <a:off x="868680" y="1463040"/>
            <a:ext cx="320040" cy="320040"/>
          </a:xfrm>
          <a:prstGeom prst="ellipse">
            <a:avLst/>
          </a:prstGeom>
          <a:solidFill>
            <a:srgbClr val="0F9B8E"/>
          </a:solidFill>
          <a:ln/>
        </p:spPr>
      </p:sp>
      <p:sp>
        <p:nvSpPr>
          <p:cNvPr id="5" name="Text 3"/>
          <p:cNvSpPr/>
          <p:nvPr/>
        </p:nvSpPr>
        <p:spPr>
          <a:xfrm>
            <a:off x="1325880" y="1417320"/>
            <a:ext cx="4297680" cy="41148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Datos</a:t>
            </a:r>
            <a:endParaRPr lang="en-US" sz="1300" dirty="0"/>
          </a:p>
        </p:txBody>
      </p:sp>
      <p:sp>
        <p:nvSpPr>
          <p:cNvPr id="6" name="Text 4"/>
          <p:cNvSpPr/>
          <p:nvPr/>
        </p:nvSpPr>
        <p:spPr>
          <a:xfrm>
            <a:off x="914400" y="1874520"/>
            <a:ext cx="4754880" cy="777240"/>
          </a:xfrm>
          <a:prstGeom prst="rect">
            <a:avLst/>
          </a:prstGeom>
          <a:noFill/>
          <a:ln/>
        </p:spPr>
        <p:txBody>
          <a:bodyPr wrap="square" rtlCol="0" anchor="ctr"/>
          <a:lstStyle/>
          <a:p>
            <a:pPr indent="0" marL="0">
              <a:lnSpc>
                <a:spcPct val="120000"/>
              </a:lnSpc>
              <a:buNone/>
            </a:pPr>
            <a:r>
              <a:rPr lang="en-US" sz="1000" dirty="0">
                <a:solidFill>
                  <a:srgbClr val="44515C"/>
                </a:solidFill>
                <a:latin typeface="Calibri" pitchFamily="34" charset="0"/>
                <a:ea typeface="Calibri" pitchFamily="34" charset="-122"/>
                <a:cs typeface="Calibri" pitchFamily="34" charset="-120"/>
              </a:rPr>
              <a:t>Deduplicar Material antes del JOIN evitó inflar artificialmente los volúmenes de venta.</a:t>
            </a:r>
            <a:endParaRPr lang="en-US" sz="1000" dirty="0"/>
          </a:p>
        </p:txBody>
      </p:sp>
      <p:sp>
        <p:nvSpPr>
          <p:cNvPr id="7" name="Shape 5"/>
          <p:cNvSpPr/>
          <p:nvPr/>
        </p:nvSpPr>
        <p:spPr>
          <a:xfrm>
            <a:off x="6172200" y="1234440"/>
            <a:ext cx="5257800" cy="1508760"/>
          </a:xfrm>
          <a:prstGeom prst="rect">
            <a:avLst/>
          </a:prstGeom>
          <a:solidFill>
            <a:srgbClr val="F4F7F8"/>
          </a:solidFill>
          <a:ln/>
        </p:spPr>
      </p:sp>
      <p:sp>
        <p:nvSpPr>
          <p:cNvPr id="8" name="Shape 6"/>
          <p:cNvSpPr/>
          <p:nvPr/>
        </p:nvSpPr>
        <p:spPr>
          <a:xfrm>
            <a:off x="6400800" y="1463040"/>
            <a:ext cx="320040" cy="320040"/>
          </a:xfrm>
          <a:prstGeom prst="ellipse">
            <a:avLst/>
          </a:prstGeom>
          <a:solidFill>
            <a:srgbClr val="0F9B8E"/>
          </a:solidFill>
          <a:ln/>
        </p:spPr>
      </p:sp>
      <p:sp>
        <p:nvSpPr>
          <p:cNvPr id="9" name="Text 7"/>
          <p:cNvSpPr/>
          <p:nvPr/>
        </p:nvSpPr>
        <p:spPr>
          <a:xfrm>
            <a:off x="6858000" y="1417320"/>
            <a:ext cx="4297680" cy="41148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Métrica</a:t>
            </a:r>
            <a:endParaRPr lang="en-US" sz="1300" dirty="0"/>
          </a:p>
        </p:txBody>
      </p:sp>
      <p:sp>
        <p:nvSpPr>
          <p:cNvPr id="10" name="Text 8"/>
          <p:cNvSpPr/>
          <p:nvPr/>
        </p:nvSpPr>
        <p:spPr>
          <a:xfrm>
            <a:off x="6446520" y="1874520"/>
            <a:ext cx="4754880" cy="777240"/>
          </a:xfrm>
          <a:prstGeom prst="rect">
            <a:avLst/>
          </a:prstGeom>
          <a:noFill/>
          <a:ln/>
        </p:spPr>
        <p:txBody>
          <a:bodyPr wrap="square" rtlCol="0" anchor="ctr"/>
          <a:lstStyle/>
          <a:p>
            <a:pPr indent="0" marL="0">
              <a:lnSpc>
                <a:spcPct val="120000"/>
              </a:lnSpc>
              <a:buNone/>
            </a:pPr>
            <a:r>
              <a:rPr lang="en-US" sz="1000" dirty="0">
                <a:solidFill>
                  <a:srgbClr val="44515C"/>
                </a:solidFill>
                <a:latin typeface="Calibri" pitchFamily="34" charset="0"/>
                <a:ea typeface="Calibri" pitchFamily="34" charset="-122"/>
                <a:cs typeface="Calibri" pitchFamily="34" charset="-120"/>
              </a:rPr>
              <a:t>Se usó el factor_kg del maestro Material, no el de Ventas (venía fijo en 1 y no era útil).</a:t>
            </a:r>
            <a:endParaRPr lang="en-US" sz="1000" dirty="0"/>
          </a:p>
        </p:txBody>
      </p:sp>
      <p:sp>
        <p:nvSpPr>
          <p:cNvPr id="11" name="Shape 9"/>
          <p:cNvSpPr/>
          <p:nvPr/>
        </p:nvSpPr>
        <p:spPr>
          <a:xfrm>
            <a:off x="640080" y="2926080"/>
            <a:ext cx="5257800" cy="1508760"/>
          </a:xfrm>
          <a:prstGeom prst="rect">
            <a:avLst/>
          </a:prstGeom>
          <a:solidFill>
            <a:srgbClr val="F4F7F8"/>
          </a:solidFill>
          <a:ln/>
        </p:spPr>
      </p:sp>
      <p:sp>
        <p:nvSpPr>
          <p:cNvPr id="12" name="Shape 10"/>
          <p:cNvSpPr/>
          <p:nvPr/>
        </p:nvSpPr>
        <p:spPr>
          <a:xfrm>
            <a:off x="868680" y="3154680"/>
            <a:ext cx="320040" cy="320040"/>
          </a:xfrm>
          <a:prstGeom prst="ellipse">
            <a:avLst/>
          </a:prstGeom>
          <a:solidFill>
            <a:srgbClr val="0F9B8E"/>
          </a:solidFill>
          <a:ln/>
        </p:spPr>
      </p:sp>
      <p:sp>
        <p:nvSpPr>
          <p:cNvPr id="13" name="Text 11"/>
          <p:cNvSpPr/>
          <p:nvPr/>
        </p:nvSpPr>
        <p:spPr>
          <a:xfrm>
            <a:off x="1325880" y="3108960"/>
            <a:ext cx="4297680" cy="41148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Calidad</a:t>
            </a:r>
            <a:endParaRPr lang="en-US" sz="1300" dirty="0"/>
          </a:p>
        </p:txBody>
      </p:sp>
      <p:sp>
        <p:nvSpPr>
          <p:cNvPr id="14" name="Text 12"/>
          <p:cNvSpPr/>
          <p:nvPr/>
        </p:nvSpPr>
        <p:spPr>
          <a:xfrm>
            <a:off x="914400" y="3566160"/>
            <a:ext cx="4754880" cy="777240"/>
          </a:xfrm>
          <a:prstGeom prst="rect">
            <a:avLst/>
          </a:prstGeom>
          <a:noFill/>
          <a:ln/>
        </p:spPr>
        <p:txBody>
          <a:bodyPr wrap="square" rtlCol="0" anchor="ctr"/>
          <a:lstStyle/>
          <a:p>
            <a:pPr indent="0" marL="0">
              <a:lnSpc>
                <a:spcPct val="120000"/>
              </a:lnSpc>
              <a:buNone/>
            </a:pPr>
            <a:r>
              <a:rPr lang="en-US" sz="1000" dirty="0">
                <a:solidFill>
                  <a:srgbClr val="44515C"/>
                </a:solidFill>
                <a:latin typeface="Calibri" pitchFamily="34" charset="0"/>
                <a:ea typeface="Calibri" pitchFamily="34" charset="-122"/>
                <a:cs typeface="Calibri" pitchFamily="34" charset="-120"/>
              </a:rPr>
              <a:t>La anomalía de costos se documentó en vez de ocultarla o forzar un KPI engañoso.</a:t>
            </a:r>
            <a:endParaRPr lang="en-US" sz="1000" dirty="0"/>
          </a:p>
        </p:txBody>
      </p:sp>
      <p:sp>
        <p:nvSpPr>
          <p:cNvPr id="15" name="Shape 13"/>
          <p:cNvSpPr/>
          <p:nvPr/>
        </p:nvSpPr>
        <p:spPr>
          <a:xfrm>
            <a:off x="6172200" y="2926080"/>
            <a:ext cx="5257800" cy="1508760"/>
          </a:xfrm>
          <a:prstGeom prst="rect">
            <a:avLst/>
          </a:prstGeom>
          <a:solidFill>
            <a:srgbClr val="F4F7F8"/>
          </a:solidFill>
          <a:ln/>
        </p:spPr>
      </p:sp>
      <p:sp>
        <p:nvSpPr>
          <p:cNvPr id="16" name="Shape 14"/>
          <p:cNvSpPr/>
          <p:nvPr/>
        </p:nvSpPr>
        <p:spPr>
          <a:xfrm>
            <a:off x="6400800" y="3154680"/>
            <a:ext cx="320040" cy="320040"/>
          </a:xfrm>
          <a:prstGeom prst="ellipse">
            <a:avLst/>
          </a:prstGeom>
          <a:solidFill>
            <a:srgbClr val="0F9B8E"/>
          </a:solidFill>
          <a:ln/>
        </p:spPr>
      </p:sp>
      <p:sp>
        <p:nvSpPr>
          <p:cNvPr id="17" name="Text 15"/>
          <p:cNvSpPr/>
          <p:nvPr/>
        </p:nvSpPr>
        <p:spPr>
          <a:xfrm>
            <a:off x="6858000" y="3108960"/>
            <a:ext cx="4297680" cy="41148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Modelado</a:t>
            </a:r>
            <a:endParaRPr lang="en-US" sz="1300" dirty="0"/>
          </a:p>
        </p:txBody>
      </p:sp>
      <p:sp>
        <p:nvSpPr>
          <p:cNvPr id="18" name="Text 16"/>
          <p:cNvSpPr/>
          <p:nvPr/>
        </p:nvSpPr>
        <p:spPr>
          <a:xfrm>
            <a:off x="6446520" y="3566160"/>
            <a:ext cx="4754880" cy="777240"/>
          </a:xfrm>
          <a:prstGeom prst="rect">
            <a:avLst/>
          </a:prstGeom>
          <a:noFill/>
          <a:ln/>
        </p:spPr>
        <p:txBody>
          <a:bodyPr wrap="square" rtlCol="0" anchor="ctr"/>
          <a:lstStyle/>
          <a:p>
            <a:pPr indent="0" marL="0">
              <a:lnSpc>
                <a:spcPct val="120000"/>
              </a:lnSpc>
              <a:buNone/>
            </a:pPr>
            <a:r>
              <a:rPr lang="en-US" sz="1000" dirty="0">
                <a:solidFill>
                  <a:srgbClr val="44515C"/>
                </a:solidFill>
                <a:latin typeface="Calibri" pitchFamily="34" charset="0"/>
                <a:ea typeface="Calibri" pitchFamily="34" charset="-122"/>
                <a:cs typeface="Calibri" pitchFamily="34" charset="-120"/>
              </a:rPr>
              <a:t>Split temporal estricto, priorizando metodología correcta sobre accuracy máximo.</a:t>
            </a:r>
            <a:endParaRPr lang="en-US" sz="1000" dirty="0"/>
          </a:p>
        </p:txBody>
      </p:sp>
      <p:sp>
        <p:nvSpPr>
          <p:cNvPr id="19" name="Shape 17"/>
          <p:cNvSpPr/>
          <p:nvPr/>
        </p:nvSpPr>
        <p:spPr>
          <a:xfrm>
            <a:off x="640080" y="4617720"/>
            <a:ext cx="5257800" cy="1508760"/>
          </a:xfrm>
          <a:prstGeom prst="rect">
            <a:avLst/>
          </a:prstGeom>
          <a:solidFill>
            <a:srgbClr val="F4F7F8"/>
          </a:solidFill>
          <a:ln/>
        </p:spPr>
      </p:sp>
      <p:sp>
        <p:nvSpPr>
          <p:cNvPr id="20" name="Shape 18"/>
          <p:cNvSpPr/>
          <p:nvPr/>
        </p:nvSpPr>
        <p:spPr>
          <a:xfrm>
            <a:off x="868680" y="4846320"/>
            <a:ext cx="320040" cy="320040"/>
          </a:xfrm>
          <a:prstGeom prst="ellipse">
            <a:avLst/>
          </a:prstGeom>
          <a:solidFill>
            <a:srgbClr val="0F9B8E"/>
          </a:solidFill>
          <a:ln/>
        </p:spPr>
      </p:sp>
      <p:sp>
        <p:nvSpPr>
          <p:cNvPr id="21" name="Text 19"/>
          <p:cNvSpPr/>
          <p:nvPr/>
        </p:nvSpPr>
        <p:spPr>
          <a:xfrm>
            <a:off x="1325880" y="4800600"/>
            <a:ext cx="4297680" cy="41148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Arquitectura</a:t>
            </a:r>
            <a:endParaRPr lang="en-US" sz="1300" dirty="0"/>
          </a:p>
        </p:txBody>
      </p:sp>
      <p:sp>
        <p:nvSpPr>
          <p:cNvPr id="22" name="Text 20"/>
          <p:cNvSpPr/>
          <p:nvPr/>
        </p:nvSpPr>
        <p:spPr>
          <a:xfrm>
            <a:off x="914400" y="5257800"/>
            <a:ext cx="4754880" cy="777240"/>
          </a:xfrm>
          <a:prstGeom prst="rect">
            <a:avLst/>
          </a:prstGeom>
          <a:noFill/>
          <a:ln/>
        </p:spPr>
        <p:txBody>
          <a:bodyPr wrap="square" rtlCol="0" anchor="ctr"/>
          <a:lstStyle/>
          <a:p>
            <a:pPr indent="0" marL="0">
              <a:lnSpc>
                <a:spcPct val="120000"/>
              </a:lnSpc>
              <a:buNone/>
            </a:pPr>
            <a:r>
              <a:rPr lang="en-US" sz="1000" dirty="0">
                <a:solidFill>
                  <a:srgbClr val="44515C"/>
                </a:solidFill>
                <a:latin typeface="Calibri" pitchFamily="34" charset="0"/>
                <a:ea typeface="Calibri" pitchFamily="34" charset="-122"/>
                <a:cs typeface="Calibri" pitchFamily="34" charset="-120"/>
              </a:rPr>
              <a:t>El LLM del agente se diseñó como componente intercambiable (OpenAI / Claude / local).</a:t>
            </a:r>
            <a:endParaRPr lang="en-US" sz="1000" dirty="0"/>
          </a:p>
        </p:txBody>
      </p:sp>
      <p:sp>
        <p:nvSpPr>
          <p:cNvPr id="23" name="Shape 21"/>
          <p:cNvSpPr/>
          <p:nvPr/>
        </p:nvSpPr>
        <p:spPr>
          <a:xfrm>
            <a:off x="6172200" y="4617720"/>
            <a:ext cx="5257800" cy="1508760"/>
          </a:xfrm>
          <a:prstGeom prst="rect">
            <a:avLst/>
          </a:prstGeom>
          <a:solidFill>
            <a:srgbClr val="F4F7F8"/>
          </a:solidFill>
          <a:ln/>
        </p:spPr>
      </p:sp>
      <p:sp>
        <p:nvSpPr>
          <p:cNvPr id="24" name="Shape 22"/>
          <p:cNvSpPr/>
          <p:nvPr/>
        </p:nvSpPr>
        <p:spPr>
          <a:xfrm>
            <a:off x="6400800" y="4846320"/>
            <a:ext cx="320040" cy="320040"/>
          </a:xfrm>
          <a:prstGeom prst="ellipse">
            <a:avLst/>
          </a:prstGeom>
          <a:solidFill>
            <a:srgbClr val="0F9B8E"/>
          </a:solidFill>
          <a:ln/>
        </p:spPr>
      </p:sp>
      <p:sp>
        <p:nvSpPr>
          <p:cNvPr id="25" name="Text 23"/>
          <p:cNvSpPr/>
          <p:nvPr/>
        </p:nvSpPr>
        <p:spPr>
          <a:xfrm>
            <a:off x="6858000" y="4800600"/>
            <a:ext cx="4297680" cy="411480"/>
          </a:xfrm>
          <a:prstGeom prst="rect">
            <a:avLst/>
          </a:prstGeom>
          <a:noFill/>
          <a:ln/>
        </p:spPr>
        <p:txBody>
          <a:bodyPr wrap="square"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Resiliencia</a:t>
            </a:r>
            <a:endParaRPr lang="en-US" sz="1300" dirty="0"/>
          </a:p>
        </p:txBody>
      </p:sp>
      <p:sp>
        <p:nvSpPr>
          <p:cNvPr id="26" name="Text 24"/>
          <p:cNvSpPr/>
          <p:nvPr/>
        </p:nvSpPr>
        <p:spPr>
          <a:xfrm>
            <a:off x="6446520" y="5257800"/>
            <a:ext cx="4754880" cy="777240"/>
          </a:xfrm>
          <a:prstGeom prst="rect">
            <a:avLst/>
          </a:prstGeom>
          <a:noFill/>
          <a:ln/>
        </p:spPr>
        <p:txBody>
          <a:bodyPr wrap="square" rtlCol="0" anchor="ctr"/>
          <a:lstStyle/>
          <a:p>
            <a:pPr indent="0" marL="0">
              <a:lnSpc>
                <a:spcPct val="120000"/>
              </a:lnSpc>
              <a:buNone/>
            </a:pPr>
            <a:r>
              <a:rPr lang="en-US" sz="1000" dirty="0">
                <a:solidFill>
                  <a:srgbClr val="44515C"/>
                </a:solidFill>
                <a:latin typeface="Calibri" pitchFamily="34" charset="0"/>
                <a:ea typeface="Calibri" pitchFamily="34" charset="-122"/>
                <a:cs typeface="Calibri" pitchFamily="34" charset="-120"/>
              </a:rPr>
              <a:t>Se preparó un modo de respaldo para el agente ante fallos de disponibilidad de API en vivo.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13315C"/>
          </a:solidFill>
          <a:ln/>
        </p:spPr>
      </p:sp>
      <p:sp>
        <p:nvSpPr>
          <p:cNvPr id="3" name="Shape 1"/>
          <p:cNvSpPr/>
          <p:nvPr/>
        </p:nvSpPr>
        <p:spPr>
          <a:xfrm>
            <a:off x="9144000" y="4114800"/>
            <a:ext cx="4572000" cy="4572000"/>
          </a:xfrm>
          <a:prstGeom prst="ellipse">
            <a:avLst/>
          </a:prstGeom>
          <a:solidFill>
            <a:srgbClr val="0F9B8E"/>
          </a:solidFill>
          <a:ln/>
        </p:spPr>
      </p:sp>
      <p:sp>
        <p:nvSpPr>
          <p:cNvPr id="4" name="Text 2"/>
          <p:cNvSpPr/>
          <p:nvPr/>
        </p:nvSpPr>
        <p:spPr>
          <a:xfrm>
            <a:off x="822960" y="2377440"/>
            <a:ext cx="7315200" cy="1005840"/>
          </a:xfrm>
          <a:prstGeom prst="rect">
            <a:avLst/>
          </a:prstGeom>
          <a:noFill/>
          <a:ln/>
        </p:spPr>
        <p:txBody>
          <a:bodyPr wrap="square" rtlCol="0" anchor="ctr"/>
          <a:lstStyle/>
          <a:p>
            <a:pPr indent="0" marL="0">
              <a:buNone/>
            </a:pPr>
            <a:r>
              <a:rPr lang="en-US" sz="4400" b="1" dirty="0">
                <a:solidFill>
                  <a:srgbClr val="F4F6F8"/>
                </a:solidFill>
                <a:latin typeface="Calibri" pitchFamily="34" charset="0"/>
                <a:ea typeface="Calibri" pitchFamily="34" charset="-122"/>
                <a:cs typeface="Calibri" pitchFamily="34" charset="-120"/>
              </a:rPr>
              <a:t>Gracias</a:t>
            </a:r>
            <a:endParaRPr lang="en-US" sz="4400" dirty="0"/>
          </a:p>
        </p:txBody>
      </p:sp>
      <p:sp>
        <p:nvSpPr>
          <p:cNvPr id="5" name="Text 3"/>
          <p:cNvSpPr/>
          <p:nvPr/>
        </p:nvSpPr>
        <p:spPr>
          <a:xfrm>
            <a:off x="822960" y="3383280"/>
            <a:ext cx="8229600" cy="822960"/>
          </a:xfrm>
          <a:prstGeom prst="rect">
            <a:avLst/>
          </a:prstGeom>
          <a:noFill/>
          <a:ln/>
        </p:spPr>
        <p:txBody>
          <a:bodyPr wrap="square" rtlCol="0" anchor="ctr"/>
          <a:lstStyle/>
          <a:p>
            <a:pPr indent="0" marL="0">
              <a:lnSpc>
                <a:spcPct val="130000"/>
              </a:lnSpc>
              <a:buNone/>
            </a:pPr>
            <a:r>
              <a:rPr lang="en-US" sz="1400" dirty="0">
                <a:solidFill>
                  <a:srgbClr val="5FCFC0"/>
                </a:solidFill>
                <a:latin typeface="Calibri" pitchFamily="34" charset="0"/>
                <a:ea typeface="Calibri" pitchFamily="34" charset="-122"/>
                <a:cs typeface="Calibri" pitchFamily="34" charset="-120"/>
              </a:rPr>
              <a:t>Quedo atento a sus preguntas sobre la solución, la arquitectura</a:t>
            </a:r>
            <a:endParaRPr lang="en-US" sz="1400" dirty="0"/>
          </a:p>
          <a:p>
            <a:pPr indent="0" marL="0">
              <a:lnSpc>
                <a:spcPct val="130000"/>
              </a:lnSpc>
              <a:buNone/>
            </a:pPr>
            <a:r>
              <a:rPr lang="en-US" sz="1400" dirty="0">
                <a:solidFill>
                  <a:srgbClr val="5FCFC0"/>
                </a:solidFill>
                <a:latin typeface="Calibri" pitchFamily="34" charset="0"/>
                <a:ea typeface="Calibri" pitchFamily="34" charset="-122"/>
                <a:cs typeface="Calibri" pitchFamily="34" charset="-120"/>
              </a:rPr>
              <a:t>y las decisiones técnicas tomadas en cada parte.</a:t>
            </a:r>
            <a:endParaRPr lang="en-US" sz="1400" dirty="0"/>
          </a:p>
        </p:txBody>
      </p:sp>
      <p:sp>
        <p:nvSpPr>
          <p:cNvPr id="6" name="Shape 4"/>
          <p:cNvSpPr/>
          <p:nvPr/>
        </p:nvSpPr>
        <p:spPr>
          <a:xfrm>
            <a:off x="822960" y="4937760"/>
            <a:ext cx="2194560" cy="0"/>
          </a:xfrm>
          <a:prstGeom prst="line">
            <a:avLst/>
          </a:prstGeom>
          <a:noFill/>
          <a:ln w="25400">
            <a:solidFill>
              <a:srgbClr val="0F9B8E"/>
            </a:solidFill>
            <a:prstDash val="solid"/>
          </a:ln>
        </p:spPr>
      </p:sp>
      <p:sp>
        <p:nvSpPr>
          <p:cNvPr id="7" name="Text 5"/>
          <p:cNvSpPr/>
          <p:nvPr/>
        </p:nvSpPr>
        <p:spPr>
          <a:xfrm>
            <a:off x="822960" y="5074920"/>
            <a:ext cx="5486400" cy="365760"/>
          </a:xfrm>
          <a:prstGeom prst="rect">
            <a:avLst/>
          </a:prstGeom>
          <a:noFill/>
          <a:ln/>
        </p:spPr>
        <p:txBody>
          <a:bodyPr wrap="square" rtlCol="0" anchor="ctr"/>
          <a:lstStyle/>
          <a:p>
            <a:pPr indent="0" marL="0">
              <a:buNone/>
            </a:pPr>
            <a:r>
              <a:rPr lang="en-US" sz="1300" b="1" dirty="0">
                <a:solidFill>
                  <a:srgbClr val="F4F6F8"/>
                </a:solidFill>
                <a:latin typeface="Calibri" pitchFamily="34" charset="0"/>
                <a:ea typeface="Calibri" pitchFamily="34" charset="-122"/>
                <a:cs typeface="Calibri" pitchFamily="34" charset="-120"/>
              </a:rPr>
              <a:t>Carlos Rolo</a:t>
            </a:r>
            <a:endParaRPr lang="en-US" sz="1300" dirty="0"/>
          </a:p>
        </p:txBody>
      </p:sp>
      <p:sp>
        <p:nvSpPr>
          <p:cNvPr id="8" name="Text 6"/>
          <p:cNvSpPr/>
          <p:nvPr/>
        </p:nvSpPr>
        <p:spPr>
          <a:xfrm>
            <a:off x="822960" y="5394960"/>
            <a:ext cx="5486400" cy="320040"/>
          </a:xfrm>
          <a:prstGeom prst="rect">
            <a:avLst/>
          </a:prstGeom>
          <a:noFill/>
          <a:ln/>
        </p:spPr>
        <p:txBody>
          <a:bodyPr wrap="square" rtlCol="0" anchor="ctr"/>
          <a:lstStyle/>
          <a:p>
            <a:pPr indent="0" marL="0">
              <a:buNone/>
            </a:pPr>
            <a:r>
              <a:rPr lang="en-US" sz="1100" dirty="0">
                <a:solidFill>
                  <a:srgbClr val="9FB3C8"/>
                </a:solidFill>
                <a:latin typeface="Calibri" pitchFamily="34" charset="0"/>
                <a:ea typeface="Calibri" pitchFamily="34" charset="-122"/>
                <a:cs typeface="Calibri" pitchFamily="34" charset="-120"/>
              </a:rPr>
              <a:t>Analista BI &amp; ML · Prueba técnica La Fabril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2026-08-18T09:47:23Z</dcterms:created>
  <dcterms:modified xsi:type="dcterms:W3CDTF">2026-08-18T09:47:23Z</dcterms:modified>
</cp:coreProperties>
</file>